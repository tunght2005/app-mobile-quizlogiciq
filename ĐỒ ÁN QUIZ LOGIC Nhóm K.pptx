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Barlow Condensed Bold" charset="1" panose="00000806000000000000"/>
      <p:regular r:id="rId18"/>
    </p:embeddedFont>
    <p:embeddedFont>
      <p:font typeface="Akzidenz-Grotesk" charset="1" panose="02000503030000020003"/>
      <p:regular r:id="rId19"/>
    </p:embeddedFont>
    <p:embeddedFont>
      <p:font typeface="Aileron" charset="1" panose="00000500000000000000"/>
      <p:regular r:id="rId20"/>
    </p:embeddedFont>
    <p:embeddedFont>
      <p:font typeface="Barlow Condensed Heavy" charset="1" panose="00000A06000000000000"/>
      <p:regular r:id="rId21"/>
    </p:embeddedFont>
    <p:embeddedFont>
      <p:font typeface="Canva Sans Bold" charset="1" panose="020B0803030501040103"/>
      <p:regular r:id="rId22"/>
    </p:embeddedFont>
    <p:embeddedFont>
      <p:font typeface="Canva Sans" charset="1" panose="020B0503030501040103"/>
      <p:regular r:id="rId23"/>
    </p:embeddedFont>
    <p:embeddedFont>
      <p:font typeface="Akzidenz-Grotesk Heavy" charset="1" panose="02000503050000020004"/>
      <p:regular r:id="rId24"/>
    </p:embeddedFont>
    <p:embeddedFont>
      <p:font typeface="Aileron Heavy" charset="1" panose="00000A00000000000000"/>
      <p:regular r:id="rId25"/>
    </p:embeddedFont>
    <p:embeddedFont>
      <p:font typeface="Aileron Bold" charset="1" panose="00000800000000000000"/>
      <p:regular r:id="rId26"/>
    </p:embeddedFont>
    <p:embeddedFont>
      <p:font typeface="Akzidenz-Grotesk Bold" charset="1" panose="020008030500000200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18.jpe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2.jpeg" Type="http://schemas.openxmlformats.org/officeDocument/2006/relationships/image"/><Relationship Id="rId5" Target="https://developer.android.com/jetpack/compose" TargetMode="External" Type="http://schemas.openxmlformats.org/officeDocument/2006/relationships/hyperlink"/><Relationship Id="rId6" Target="https://developer.android.com/codelabs/jetpack-compose-basics" TargetMode="External" Type="http://schemas.openxmlformats.org/officeDocument/2006/relationships/hyperlink"/><Relationship Id="rId7" Target="https://developer.android.com/training/dependency-injection/hilt-android" TargetMode="External" Type="http://schemas.openxmlformats.org/officeDocument/2006/relationships/hyperlink"/><Relationship Id="rId8" Target="../media/image10.png" Type="http://schemas.openxmlformats.org/officeDocument/2006/relationships/image"/><Relationship Id="rId9" Target="../media/image1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469396" y="2719229"/>
            <a:ext cx="2544433" cy="2544433"/>
          </a:xfrm>
          <a:custGeom>
            <a:avLst/>
            <a:gdLst/>
            <a:ahLst/>
            <a:cxnLst/>
            <a:rect r="r" b="b" t="t" l="l"/>
            <a:pathLst>
              <a:path h="2544433" w="2544433">
                <a:moveTo>
                  <a:pt x="0" y="0"/>
                </a:moveTo>
                <a:lnTo>
                  <a:pt x="2544432" y="0"/>
                </a:lnTo>
                <a:lnTo>
                  <a:pt x="2544432" y="2544433"/>
                </a:lnTo>
                <a:lnTo>
                  <a:pt x="0" y="25444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098615" y="3307946"/>
            <a:ext cx="11071218" cy="5950354"/>
            <a:chOff x="-1270" y="0"/>
            <a:chExt cx="5373370" cy="2887980"/>
          </a:xfrm>
        </p:grpSpPr>
        <p:sp>
          <p:nvSpPr>
            <p:cNvPr name="Freeform 4" id="4"/>
            <p:cNvSpPr/>
            <p:nvPr/>
          </p:nvSpPr>
          <p:spPr>
            <a:xfrm flipH="true" flipV="false" rot="0">
              <a:off x="0" y="0"/>
              <a:ext cx="5373370" cy="2887980"/>
            </a:xfrm>
            <a:custGeom>
              <a:avLst/>
              <a:gdLst/>
              <a:ahLst/>
              <a:cxnLst/>
              <a:rect r="r" b="b" t="t" l="l"/>
              <a:pathLst>
                <a:path h="2887980" w="5373370">
                  <a:moveTo>
                    <a:pt x="0" y="621030"/>
                  </a:moveTo>
                  <a:cubicBezTo>
                    <a:pt x="0" y="963930"/>
                    <a:pt x="278130" y="1242060"/>
                    <a:pt x="621030" y="1242060"/>
                  </a:cubicBezTo>
                  <a:lnTo>
                    <a:pt x="1744980" y="1242060"/>
                  </a:lnTo>
                  <a:cubicBezTo>
                    <a:pt x="1770380" y="1242060"/>
                    <a:pt x="1790700" y="1263650"/>
                    <a:pt x="1790700" y="1289050"/>
                  </a:cubicBezTo>
                  <a:cubicBezTo>
                    <a:pt x="1790700" y="1380490"/>
                    <a:pt x="1811020" y="1466850"/>
                    <a:pt x="1845310" y="1545590"/>
                  </a:cubicBezTo>
                  <a:cubicBezTo>
                    <a:pt x="1866900" y="1592580"/>
                    <a:pt x="1832610" y="1645920"/>
                    <a:pt x="1780540" y="1645920"/>
                  </a:cubicBezTo>
                  <a:cubicBezTo>
                    <a:pt x="1437640" y="1645920"/>
                    <a:pt x="1159510" y="1924050"/>
                    <a:pt x="1159510" y="2266950"/>
                  </a:cubicBezTo>
                  <a:cubicBezTo>
                    <a:pt x="1159510" y="2609850"/>
                    <a:pt x="1437640" y="2887980"/>
                    <a:pt x="1780540" y="2887980"/>
                  </a:cubicBezTo>
                  <a:lnTo>
                    <a:pt x="4121150" y="2887980"/>
                  </a:lnTo>
                  <a:cubicBezTo>
                    <a:pt x="4464050" y="2887980"/>
                    <a:pt x="4742180" y="2609850"/>
                    <a:pt x="4742180" y="2266950"/>
                  </a:cubicBezTo>
                  <a:cubicBezTo>
                    <a:pt x="4742180" y="2175510"/>
                    <a:pt x="4721860" y="2089150"/>
                    <a:pt x="4687570" y="2010410"/>
                  </a:cubicBezTo>
                  <a:cubicBezTo>
                    <a:pt x="4665980" y="1963420"/>
                    <a:pt x="4700270" y="1910080"/>
                    <a:pt x="4752340" y="1910080"/>
                  </a:cubicBezTo>
                  <a:cubicBezTo>
                    <a:pt x="5095240" y="1910080"/>
                    <a:pt x="5373370" y="1631950"/>
                    <a:pt x="5373370" y="1289050"/>
                  </a:cubicBezTo>
                  <a:cubicBezTo>
                    <a:pt x="5373370" y="946150"/>
                    <a:pt x="5095240" y="668020"/>
                    <a:pt x="4752340" y="668020"/>
                  </a:cubicBezTo>
                  <a:lnTo>
                    <a:pt x="3628390" y="668020"/>
                  </a:lnTo>
                  <a:cubicBezTo>
                    <a:pt x="3602990" y="668020"/>
                    <a:pt x="3582670" y="647700"/>
                    <a:pt x="3582670" y="622300"/>
                  </a:cubicBezTo>
                  <a:lnTo>
                    <a:pt x="3582670" y="621030"/>
                  </a:lnTo>
                  <a:cubicBezTo>
                    <a:pt x="3582670" y="278130"/>
                    <a:pt x="3304540" y="0"/>
                    <a:pt x="2961640" y="0"/>
                  </a:cubicBezTo>
                  <a:lnTo>
                    <a:pt x="622300" y="0"/>
                  </a:lnTo>
                  <a:cubicBezTo>
                    <a:pt x="278130" y="0"/>
                    <a:pt x="0" y="278130"/>
                    <a:pt x="0" y="621030"/>
                  </a:cubicBezTo>
                  <a:close/>
                </a:path>
              </a:pathLst>
            </a:custGeom>
            <a:blipFill>
              <a:blip r:embed="rId4"/>
              <a:stretch>
                <a:fillRect l="0" t="-25821" r="0" b="-13723"/>
              </a:stretch>
            </a:blipFill>
          </p:spPr>
        </p:sp>
      </p:grpSp>
      <p:grpSp>
        <p:nvGrpSpPr>
          <p:cNvPr name="Group 5" id="5"/>
          <p:cNvGrpSpPr/>
          <p:nvPr/>
        </p:nvGrpSpPr>
        <p:grpSpPr>
          <a:xfrm rot="0">
            <a:off x="-1136521" y="3307946"/>
            <a:ext cx="2594369" cy="4588246"/>
            <a:chOff x="0" y="0"/>
            <a:chExt cx="683291" cy="1208427"/>
          </a:xfrm>
        </p:grpSpPr>
        <p:sp>
          <p:nvSpPr>
            <p:cNvPr name="Freeform 6" id="6"/>
            <p:cNvSpPr/>
            <p:nvPr/>
          </p:nvSpPr>
          <p:spPr>
            <a:xfrm flipH="false" flipV="false" rot="0">
              <a:off x="0" y="0"/>
              <a:ext cx="683291" cy="1208427"/>
            </a:xfrm>
            <a:custGeom>
              <a:avLst/>
              <a:gdLst/>
              <a:ahLst/>
              <a:cxnLst/>
              <a:rect r="r" b="b" t="t" l="l"/>
              <a:pathLst>
                <a:path h="1208427" w="683291">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sp>
        <p:sp>
          <p:nvSpPr>
            <p:cNvPr name="TextBox 7" id="7"/>
            <p:cNvSpPr txBox="true"/>
            <p:nvPr/>
          </p:nvSpPr>
          <p:spPr>
            <a:xfrm>
              <a:off x="0" y="-47625"/>
              <a:ext cx="683291" cy="1256052"/>
            </a:xfrm>
            <a:prstGeom prst="rect">
              <a:avLst/>
            </a:prstGeom>
          </p:spPr>
          <p:txBody>
            <a:bodyPr anchor="ctr" rtlCol="false" tIns="50800" lIns="50800" bIns="50800" rIns="50800"/>
            <a:lstStyle/>
            <a:p>
              <a:pPr algn="ctr">
                <a:lnSpc>
                  <a:spcPts val="2800"/>
                </a:lnSpc>
              </a:pPr>
            </a:p>
          </p:txBody>
        </p:sp>
      </p:grpSp>
      <p:sp>
        <p:nvSpPr>
          <p:cNvPr name="Freeform 8" id="8"/>
          <p:cNvSpPr/>
          <p:nvPr/>
        </p:nvSpPr>
        <p:spPr>
          <a:xfrm flipH="false" flipV="false" rot="0">
            <a:off x="13731511" y="1434222"/>
            <a:ext cx="305535" cy="302202"/>
          </a:xfrm>
          <a:custGeom>
            <a:avLst/>
            <a:gdLst/>
            <a:ahLst/>
            <a:cxnLst/>
            <a:rect r="r" b="b" t="t" l="l"/>
            <a:pathLst>
              <a:path h="302202" w="305535">
                <a:moveTo>
                  <a:pt x="0" y="0"/>
                </a:moveTo>
                <a:lnTo>
                  <a:pt x="305535" y="0"/>
                </a:lnTo>
                <a:lnTo>
                  <a:pt x="305535" y="302203"/>
                </a:lnTo>
                <a:lnTo>
                  <a:pt x="0" y="3022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028700" y="-252231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1958605" y="3307946"/>
            <a:ext cx="1025128" cy="1025128"/>
          </a:xfrm>
          <a:custGeom>
            <a:avLst/>
            <a:gdLst/>
            <a:ahLst/>
            <a:cxnLst/>
            <a:rect r="r" b="b" t="t" l="l"/>
            <a:pathLst>
              <a:path h="1025128" w="1025128">
                <a:moveTo>
                  <a:pt x="0" y="0"/>
                </a:moveTo>
                <a:lnTo>
                  <a:pt x="1025127" y="0"/>
                </a:lnTo>
                <a:lnTo>
                  <a:pt x="1025127" y="1025127"/>
                </a:lnTo>
                <a:lnTo>
                  <a:pt x="0" y="10251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7843805" y="8248617"/>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2412807" y="1624722"/>
            <a:ext cx="13526975" cy="3254226"/>
          </a:xfrm>
          <a:prstGeom prst="rect">
            <a:avLst/>
          </a:prstGeom>
        </p:spPr>
        <p:txBody>
          <a:bodyPr anchor="t" rtlCol="false" tIns="0" lIns="0" bIns="0" rIns="0">
            <a:spAutoFit/>
          </a:bodyPr>
          <a:lstStyle/>
          <a:p>
            <a:pPr algn="ctr">
              <a:lnSpc>
                <a:spcPts val="12564"/>
              </a:lnSpc>
            </a:pPr>
            <a:r>
              <a:rPr lang="en-US" b="true" sz="12198">
                <a:solidFill>
                  <a:srgbClr val="0E2F5F"/>
                </a:solidFill>
                <a:latin typeface="Barlow Condensed Bold"/>
                <a:ea typeface="Barlow Condensed Bold"/>
                <a:cs typeface="Barlow Condensed Bold"/>
                <a:sym typeface="Barlow Condensed Bold"/>
              </a:rPr>
              <a:t>ỨNG DỤNG QUIZ LOGICIQ NHÓM K</a:t>
            </a:r>
          </a:p>
        </p:txBody>
      </p:sp>
      <p:sp>
        <p:nvSpPr>
          <p:cNvPr name="Freeform 13" id="13"/>
          <p:cNvSpPr/>
          <p:nvPr/>
        </p:nvSpPr>
        <p:spPr>
          <a:xfrm flipH="false" flipV="false" rot="0">
            <a:off x="12769424" y="2436835"/>
            <a:ext cx="806841" cy="564789"/>
          </a:xfrm>
          <a:custGeom>
            <a:avLst/>
            <a:gdLst/>
            <a:ahLst/>
            <a:cxnLst/>
            <a:rect r="r" b="b" t="t" l="l"/>
            <a:pathLst>
              <a:path h="564789" w="806841">
                <a:moveTo>
                  <a:pt x="0" y="0"/>
                </a:moveTo>
                <a:lnTo>
                  <a:pt x="806840" y="0"/>
                </a:lnTo>
                <a:lnTo>
                  <a:pt x="806840" y="564788"/>
                </a:lnTo>
                <a:lnTo>
                  <a:pt x="0" y="5647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2412807" y="6504405"/>
            <a:ext cx="5284273" cy="1391920"/>
          </a:xfrm>
          <a:prstGeom prst="rect">
            <a:avLst/>
          </a:prstGeom>
        </p:spPr>
        <p:txBody>
          <a:bodyPr anchor="t" rtlCol="false" tIns="0" lIns="0" bIns="0" rIns="0">
            <a:spAutoFit/>
          </a:bodyPr>
          <a:lstStyle/>
          <a:p>
            <a:pPr algn="l">
              <a:lnSpc>
                <a:spcPts val="5240"/>
              </a:lnSpc>
            </a:pPr>
            <a:r>
              <a:rPr lang="en-US" sz="4000">
                <a:solidFill>
                  <a:srgbClr val="021828"/>
                </a:solidFill>
                <a:latin typeface="Akzidenz-Grotesk"/>
                <a:ea typeface="Akzidenz-Grotesk"/>
                <a:cs typeface="Akzidenz-Grotesk"/>
                <a:sym typeface="Akzidenz-Grotesk"/>
              </a:rPr>
              <a:t>Giảng viên hướng dẫn:</a:t>
            </a:r>
          </a:p>
          <a:p>
            <a:pPr algn="l">
              <a:lnSpc>
                <a:spcPts val="5240"/>
              </a:lnSpc>
            </a:pPr>
            <a:r>
              <a:rPr lang="en-US" sz="4000">
                <a:solidFill>
                  <a:srgbClr val="021828"/>
                </a:solidFill>
                <a:latin typeface="Akzidenz-Grotesk"/>
                <a:ea typeface="Akzidenz-Grotesk"/>
                <a:cs typeface="Akzidenz-Grotesk"/>
                <a:sym typeface="Akzidenz-Grotesk"/>
              </a:rPr>
              <a:t>Trương Quang Tuấn</a:t>
            </a:r>
          </a:p>
        </p:txBody>
      </p:sp>
      <p:sp>
        <p:nvSpPr>
          <p:cNvPr name="TextBox 15" id="15"/>
          <p:cNvSpPr txBox="true"/>
          <p:nvPr/>
        </p:nvSpPr>
        <p:spPr>
          <a:xfrm rot="0">
            <a:off x="14211574" y="1415172"/>
            <a:ext cx="3009626" cy="306925"/>
          </a:xfrm>
          <a:prstGeom prst="rect">
            <a:avLst/>
          </a:prstGeom>
        </p:spPr>
        <p:txBody>
          <a:bodyPr anchor="t" rtlCol="false" tIns="0" lIns="0" bIns="0" rIns="0">
            <a:spAutoFit/>
          </a:bodyPr>
          <a:lstStyle/>
          <a:p>
            <a:pPr algn="l">
              <a:lnSpc>
                <a:spcPts val="2413"/>
              </a:lnSpc>
            </a:pPr>
            <a:r>
              <a:rPr lang="en-US" sz="1900">
                <a:solidFill>
                  <a:srgbClr val="FFFFFF"/>
                </a:solidFill>
                <a:latin typeface="Aileron"/>
                <a:ea typeface="Aileron"/>
                <a:cs typeface="Aileron"/>
                <a:sym typeface="Aileron"/>
              </a:rPr>
              <a:t>www.reallygreatsite.com</a:t>
            </a:r>
          </a:p>
        </p:txBody>
      </p:sp>
      <p:sp>
        <p:nvSpPr>
          <p:cNvPr name="Freeform 16" id="16"/>
          <p:cNvSpPr/>
          <p:nvPr/>
        </p:nvSpPr>
        <p:spPr>
          <a:xfrm flipH="false" flipV="false" rot="0">
            <a:off x="2412807" y="8799767"/>
            <a:ext cx="1483489" cy="458533"/>
          </a:xfrm>
          <a:custGeom>
            <a:avLst/>
            <a:gdLst/>
            <a:ahLst/>
            <a:cxnLst/>
            <a:rect r="r" b="b" t="t" l="l"/>
            <a:pathLst>
              <a:path h="458533" w="1483489">
                <a:moveTo>
                  <a:pt x="0" y="0"/>
                </a:moveTo>
                <a:lnTo>
                  <a:pt x="1483489" y="0"/>
                </a:lnTo>
                <a:lnTo>
                  <a:pt x="1483489" y="458533"/>
                </a:lnTo>
                <a:lnTo>
                  <a:pt x="0" y="45853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469396" y="2719229"/>
            <a:ext cx="2544433" cy="2544433"/>
          </a:xfrm>
          <a:custGeom>
            <a:avLst/>
            <a:gdLst/>
            <a:ahLst/>
            <a:cxnLst/>
            <a:rect r="r" b="b" t="t" l="l"/>
            <a:pathLst>
              <a:path h="2544433" w="2544433">
                <a:moveTo>
                  <a:pt x="0" y="0"/>
                </a:moveTo>
                <a:lnTo>
                  <a:pt x="2544432" y="0"/>
                </a:lnTo>
                <a:lnTo>
                  <a:pt x="2544432" y="2544433"/>
                </a:lnTo>
                <a:lnTo>
                  <a:pt x="0" y="25444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36521" y="3307946"/>
            <a:ext cx="2594369" cy="4588246"/>
            <a:chOff x="0" y="0"/>
            <a:chExt cx="683291" cy="1208427"/>
          </a:xfrm>
        </p:grpSpPr>
        <p:sp>
          <p:nvSpPr>
            <p:cNvPr name="Freeform 4" id="4"/>
            <p:cNvSpPr/>
            <p:nvPr/>
          </p:nvSpPr>
          <p:spPr>
            <a:xfrm flipH="false" flipV="false" rot="0">
              <a:off x="0" y="0"/>
              <a:ext cx="683291" cy="1208427"/>
            </a:xfrm>
            <a:custGeom>
              <a:avLst/>
              <a:gdLst/>
              <a:ahLst/>
              <a:cxnLst/>
              <a:rect r="r" b="b" t="t" l="l"/>
              <a:pathLst>
                <a:path h="1208427" w="683291">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sp>
        <p:sp>
          <p:nvSpPr>
            <p:cNvPr name="TextBox 5" id="5"/>
            <p:cNvSpPr txBox="true"/>
            <p:nvPr/>
          </p:nvSpPr>
          <p:spPr>
            <a:xfrm>
              <a:off x="0" y="-47625"/>
              <a:ext cx="683291" cy="1256052"/>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3731511" y="1434222"/>
            <a:ext cx="305535" cy="302202"/>
          </a:xfrm>
          <a:custGeom>
            <a:avLst/>
            <a:gdLst/>
            <a:ahLst/>
            <a:cxnLst/>
            <a:rect r="r" b="b" t="t" l="l"/>
            <a:pathLst>
              <a:path h="302202" w="305535">
                <a:moveTo>
                  <a:pt x="0" y="0"/>
                </a:moveTo>
                <a:lnTo>
                  <a:pt x="305535" y="0"/>
                </a:lnTo>
                <a:lnTo>
                  <a:pt x="305535" y="302203"/>
                </a:lnTo>
                <a:lnTo>
                  <a:pt x="0" y="3022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8700" y="-252231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1958605" y="3307946"/>
            <a:ext cx="1025128" cy="1025128"/>
          </a:xfrm>
          <a:custGeom>
            <a:avLst/>
            <a:gdLst/>
            <a:ahLst/>
            <a:cxnLst/>
            <a:rect r="r" b="b" t="t" l="l"/>
            <a:pathLst>
              <a:path h="1025128" w="1025128">
                <a:moveTo>
                  <a:pt x="0" y="0"/>
                </a:moveTo>
                <a:lnTo>
                  <a:pt x="1025127" y="0"/>
                </a:lnTo>
                <a:lnTo>
                  <a:pt x="1025127" y="1025127"/>
                </a:lnTo>
                <a:lnTo>
                  <a:pt x="0" y="10251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7843805" y="8248617"/>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6399174" y="1219200"/>
            <a:ext cx="6071995" cy="1663551"/>
          </a:xfrm>
          <a:prstGeom prst="rect">
            <a:avLst/>
          </a:prstGeom>
        </p:spPr>
        <p:txBody>
          <a:bodyPr anchor="t" rtlCol="false" tIns="0" lIns="0" bIns="0" rIns="0">
            <a:spAutoFit/>
          </a:bodyPr>
          <a:lstStyle/>
          <a:p>
            <a:pPr algn="ctr">
              <a:lnSpc>
                <a:spcPts val="12564"/>
              </a:lnSpc>
            </a:pPr>
            <a:r>
              <a:rPr lang="en-US" b="true" sz="12198">
                <a:solidFill>
                  <a:srgbClr val="0E2F5F"/>
                </a:solidFill>
                <a:latin typeface="Barlow Condensed Heavy"/>
                <a:ea typeface="Barlow Condensed Heavy"/>
                <a:cs typeface="Barlow Condensed Heavy"/>
                <a:sym typeface="Barlow Condensed Heavy"/>
              </a:rPr>
              <a:t>MỤC LỤC</a:t>
            </a:r>
          </a:p>
        </p:txBody>
      </p:sp>
      <p:sp>
        <p:nvSpPr>
          <p:cNvPr name="Freeform 11" id="11"/>
          <p:cNvSpPr/>
          <p:nvPr/>
        </p:nvSpPr>
        <p:spPr>
          <a:xfrm flipH="false" flipV="false" rot="0">
            <a:off x="12769424" y="2436835"/>
            <a:ext cx="806841" cy="564789"/>
          </a:xfrm>
          <a:custGeom>
            <a:avLst/>
            <a:gdLst/>
            <a:ahLst/>
            <a:cxnLst/>
            <a:rect r="r" b="b" t="t" l="l"/>
            <a:pathLst>
              <a:path h="564789" w="806841">
                <a:moveTo>
                  <a:pt x="0" y="0"/>
                </a:moveTo>
                <a:lnTo>
                  <a:pt x="806840" y="0"/>
                </a:lnTo>
                <a:lnTo>
                  <a:pt x="806840" y="564788"/>
                </a:lnTo>
                <a:lnTo>
                  <a:pt x="0" y="5647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4211574" y="1415172"/>
            <a:ext cx="3009626" cy="306925"/>
          </a:xfrm>
          <a:prstGeom prst="rect">
            <a:avLst/>
          </a:prstGeom>
        </p:spPr>
        <p:txBody>
          <a:bodyPr anchor="t" rtlCol="false" tIns="0" lIns="0" bIns="0" rIns="0">
            <a:spAutoFit/>
          </a:bodyPr>
          <a:lstStyle/>
          <a:p>
            <a:pPr algn="l">
              <a:lnSpc>
                <a:spcPts val="2413"/>
              </a:lnSpc>
            </a:pPr>
            <a:r>
              <a:rPr lang="en-US" sz="1900">
                <a:solidFill>
                  <a:srgbClr val="FFFFFF"/>
                </a:solidFill>
                <a:latin typeface="Aileron"/>
                <a:ea typeface="Aileron"/>
                <a:cs typeface="Aileron"/>
                <a:sym typeface="Aileron"/>
              </a:rPr>
              <a:t>www.reallygreatsite.com</a:t>
            </a:r>
          </a:p>
        </p:txBody>
      </p:sp>
      <p:sp>
        <p:nvSpPr>
          <p:cNvPr name="Freeform 13" id="13"/>
          <p:cNvSpPr/>
          <p:nvPr/>
        </p:nvSpPr>
        <p:spPr>
          <a:xfrm flipH="false" flipV="false" rot="0">
            <a:off x="2412807" y="8799767"/>
            <a:ext cx="1483489" cy="458533"/>
          </a:xfrm>
          <a:custGeom>
            <a:avLst/>
            <a:gdLst/>
            <a:ahLst/>
            <a:cxnLst/>
            <a:rect r="r" b="b" t="t" l="l"/>
            <a:pathLst>
              <a:path h="458533" w="1483489">
                <a:moveTo>
                  <a:pt x="0" y="0"/>
                </a:moveTo>
                <a:lnTo>
                  <a:pt x="1483489" y="0"/>
                </a:lnTo>
                <a:lnTo>
                  <a:pt x="1483489" y="458533"/>
                </a:lnTo>
                <a:lnTo>
                  <a:pt x="0" y="4585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1832468" y="3413249"/>
            <a:ext cx="6519267" cy="920753"/>
          </a:xfrm>
          <a:prstGeom prst="rect">
            <a:avLst/>
          </a:prstGeom>
        </p:spPr>
        <p:txBody>
          <a:bodyPr anchor="t" rtlCol="false" tIns="0" lIns="0" bIns="0" rIns="0">
            <a:spAutoFit/>
          </a:bodyPr>
          <a:lstStyle/>
          <a:p>
            <a:pPr algn="ctr" marL="1160439" indent="-580219" lvl="1">
              <a:lnSpc>
                <a:spcPts val="7524"/>
              </a:lnSpc>
              <a:buFont typeface="Arial"/>
              <a:buChar char="•"/>
            </a:pPr>
            <a:r>
              <a:rPr lang="en-US" b="true" sz="5374">
                <a:solidFill>
                  <a:srgbClr val="000000"/>
                </a:solidFill>
                <a:latin typeface="Canva Sans Bold"/>
                <a:ea typeface="Canva Sans Bold"/>
                <a:cs typeface="Canva Sans Bold"/>
                <a:sym typeface="Canva Sans Bold"/>
              </a:rPr>
              <a:t>Thông tin chung</a:t>
            </a:r>
          </a:p>
        </p:txBody>
      </p:sp>
      <p:sp>
        <p:nvSpPr>
          <p:cNvPr name="TextBox 15" id="15"/>
          <p:cNvSpPr txBox="true"/>
          <p:nvPr/>
        </p:nvSpPr>
        <p:spPr>
          <a:xfrm rot="0">
            <a:off x="1832438" y="5295270"/>
            <a:ext cx="7356039" cy="920753"/>
          </a:xfrm>
          <a:prstGeom prst="rect">
            <a:avLst/>
          </a:prstGeom>
        </p:spPr>
        <p:txBody>
          <a:bodyPr anchor="t" rtlCol="false" tIns="0" lIns="0" bIns="0" rIns="0">
            <a:spAutoFit/>
          </a:bodyPr>
          <a:lstStyle/>
          <a:p>
            <a:pPr algn="ctr" marL="1160439" indent="-580219" lvl="1">
              <a:lnSpc>
                <a:spcPts val="7524"/>
              </a:lnSpc>
              <a:buFont typeface="Arial"/>
              <a:buChar char="•"/>
            </a:pPr>
            <a:r>
              <a:rPr lang="en-US" b="true" sz="5374">
                <a:solidFill>
                  <a:srgbClr val="000000"/>
                </a:solidFill>
                <a:latin typeface="Canva Sans Bold"/>
                <a:ea typeface="Canva Sans Bold"/>
                <a:cs typeface="Canva Sans Bold"/>
                <a:sym typeface="Canva Sans Bold"/>
              </a:rPr>
              <a:t>Thiết kế và thực tế</a:t>
            </a:r>
          </a:p>
        </p:txBody>
      </p:sp>
      <p:sp>
        <p:nvSpPr>
          <p:cNvPr name="TextBox 16" id="16"/>
          <p:cNvSpPr txBox="true"/>
          <p:nvPr/>
        </p:nvSpPr>
        <p:spPr>
          <a:xfrm rot="0">
            <a:off x="8665415" y="4223676"/>
            <a:ext cx="6798112" cy="920753"/>
          </a:xfrm>
          <a:prstGeom prst="rect">
            <a:avLst/>
          </a:prstGeom>
        </p:spPr>
        <p:txBody>
          <a:bodyPr anchor="t" rtlCol="false" tIns="0" lIns="0" bIns="0" rIns="0">
            <a:spAutoFit/>
          </a:bodyPr>
          <a:lstStyle/>
          <a:p>
            <a:pPr algn="ctr" marL="1160439" indent="-580219" lvl="1">
              <a:lnSpc>
                <a:spcPts val="7524"/>
              </a:lnSpc>
              <a:buFont typeface="Arial"/>
              <a:buChar char="•"/>
            </a:pPr>
            <a:r>
              <a:rPr lang="en-US" b="true" sz="5374">
                <a:solidFill>
                  <a:srgbClr val="000000"/>
                </a:solidFill>
                <a:latin typeface="Canva Sans Bold"/>
                <a:ea typeface="Canva Sans Bold"/>
                <a:cs typeface="Canva Sans Bold"/>
                <a:sym typeface="Canva Sans Bold"/>
              </a:rPr>
              <a:t>Lý do chọn đề tài</a:t>
            </a:r>
          </a:p>
        </p:txBody>
      </p:sp>
      <p:sp>
        <p:nvSpPr>
          <p:cNvPr name="TextBox 17" id="17"/>
          <p:cNvSpPr txBox="true"/>
          <p:nvPr/>
        </p:nvSpPr>
        <p:spPr>
          <a:xfrm rot="0">
            <a:off x="8665343" y="6730512"/>
            <a:ext cx="9608106" cy="920753"/>
          </a:xfrm>
          <a:prstGeom prst="rect">
            <a:avLst/>
          </a:prstGeom>
        </p:spPr>
        <p:txBody>
          <a:bodyPr anchor="t" rtlCol="false" tIns="0" lIns="0" bIns="0" rIns="0">
            <a:spAutoFit/>
          </a:bodyPr>
          <a:lstStyle/>
          <a:p>
            <a:pPr algn="ctr" marL="1160439" indent="-580219" lvl="1">
              <a:lnSpc>
                <a:spcPts val="7524"/>
              </a:lnSpc>
              <a:buFont typeface="Arial"/>
              <a:buChar char="•"/>
            </a:pPr>
            <a:r>
              <a:rPr lang="en-US" b="true" sz="5374">
                <a:solidFill>
                  <a:srgbClr val="000000"/>
                </a:solidFill>
                <a:latin typeface="Canva Sans Bold"/>
                <a:ea typeface="Canva Sans Bold"/>
                <a:cs typeface="Canva Sans Bold"/>
                <a:sym typeface="Canva Sans Bold"/>
              </a:rPr>
              <a:t>Phương pháp nghiên cứu</a:t>
            </a:r>
          </a:p>
        </p:txBody>
      </p:sp>
      <p:sp>
        <p:nvSpPr>
          <p:cNvPr name="TextBox 18" id="18"/>
          <p:cNvSpPr txBox="true"/>
          <p:nvPr/>
        </p:nvSpPr>
        <p:spPr>
          <a:xfrm rot="0">
            <a:off x="1832506" y="7736317"/>
            <a:ext cx="7063145" cy="920753"/>
          </a:xfrm>
          <a:prstGeom prst="rect">
            <a:avLst/>
          </a:prstGeom>
        </p:spPr>
        <p:txBody>
          <a:bodyPr anchor="t" rtlCol="false" tIns="0" lIns="0" bIns="0" rIns="0">
            <a:spAutoFit/>
          </a:bodyPr>
          <a:lstStyle/>
          <a:p>
            <a:pPr algn="ctr" marL="1160439" indent="-580219" lvl="1">
              <a:lnSpc>
                <a:spcPts val="7524"/>
              </a:lnSpc>
              <a:buFont typeface="Arial"/>
              <a:buChar char="•"/>
            </a:pPr>
            <a:r>
              <a:rPr lang="en-US" b="true" sz="5374">
                <a:solidFill>
                  <a:srgbClr val="000000"/>
                </a:solidFill>
                <a:latin typeface="Canva Sans Bold"/>
                <a:ea typeface="Canva Sans Bold"/>
                <a:cs typeface="Canva Sans Bold"/>
                <a:sym typeface="Canva Sans Bold"/>
              </a:rPr>
              <a:t>Demo và đánh giá</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264511" y="5348601"/>
            <a:ext cx="1025128" cy="1025128"/>
          </a:xfrm>
          <a:custGeom>
            <a:avLst/>
            <a:gdLst/>
            <a:ahLst/>
            <a:cxnLst/>
            <a:rect r="r" b="b" t="t" l="l"/>
            <a:pathLst>
              <a:path h="1025128" w="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1602672" y="1717827"/>
          <a:ext cx="16041814" cy="7432767"/>
        </p:xfrm>
        <a:graphic>
          <a:graphicData uri="http://schemas.openxmlformats.org/drawingml/2006/table">
            <a:tbl>
              <a:tblPr/>
              <a:tblGrid>
                <a:gridCol w="3935305"/>
                <a:gridCol w="3935305"/>
                <a:gridCol w="4135700"/>
                <a:gridCol w="4035503"/>
              </a:tblGrid>
              <a:tr h="1858192">
                <a:tc>
                  <a:txBody>
                    <a:bodyPr anchor="t" rtlCol="false"/>
                    <a:lstStyle/>
                    <a:p>
                      <a:pPr algn="ctr">
                        <a:lnSpc>
                          <a:spcPts val="5179"/>
                        </a:lnSpc>
                        <a:defRPr/>
                      </a:pPr>
                      <a:r>
                        <a:rPr lang="en-US" sz="3699" b="true">
                          <a:solidFill>
                            <a:srgbClr val="FF3131"/>
                          </a:solidFill>
                          <a:latin typeface="Canva Sans Bold"/>
                          <a:ea typeface="Canva Sans Bold"/>
                          <a:cs typeface="Canva Sans Bold"/>
                          <a:sym typeface="Canva Sans Bold"/>
                        </a:rPr>
                        <a:t>MSSV</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179"/>
                        </a:lnSpc>
                        <a:defRPr/>
                      </a:pPr>
                      <a:r>
                        <a:rPr lang="en-US" sz="3699" b="true">
                          <a:solidFill>
                            <a:srgbClr val="FF3131"/>
                          </a:solidFill>
                          <a:latin typeface="Canva Sans Bold"/>
                          <a:ea typeface="Canva Sans Bold"/>
                          <a:cs typeface="Canva Sans Bold"/>
                          <a:sym typeface="Canva Sans Bold"/>
                        </a:rPr>
                        <a:t>Họ và tên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179"/>
                        </a:lnSpc>
                        <a:defRPr/>
                      </a:pPr>
                      <a:r>
                        <a:rPr lang="en-US" sz="3699" b="true">
                          <a:solidFill>
                            <a:srgbClr val="FF3131"/>
                          </a:solidFill>
                          <a:latin typeface="Canva Sans Bold"/>
                          <a:ea typeface="Canva Sans Bold"/>
                          <a:cs typeface="Canva Sans Bold"/>
                          <a:sym typeface="Canva Sans Bold"/>
                        </a:rPr>
                        <a:t>Link git cá nhân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5179"/>
                        </a:lnSpc>
                        <a:defRPr/>
                      </a:pPr>
                      <a:r>
                        <a:rPr lang="en-US" sz="3699" b="true">
                          <a:solidFill>
                            <a:srgbClr val="FF3131"/>
                          </a:solidFill>
                          <a:latin typeface="Canva Sans Bold"/>
                          <a:ea typeface="Canva Sans Bold"/>
                          <a:cs typeface="Canva Sans Bold"/>
                          <a:sym typeface="Canva Sans Bold"/>
                        </a:rPr>
                        <a:t>Vai trò</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58192">
                <a:tc>
                  <a:txBody>
                    <a:bodyPr anchor="t" rtlCol="false"/>
                    <a:lstStyle/>
                    <a:p>
                      <a:pPr algn="ctr">
                        <a:lnSpc>
                          <a:spcPts val="2520"/>
                        </a:lnSpc>
                        <a:defRPr/>
                      </a:pPr>
                      <a:r>
                        <a:rPr lang="en-US" sz="1800">
                          <a:solidFill>
                            <a:srgbClr val="000000"/>
                          </a:solidFill>
                          <a:latin typeface="Canva Sans"/>
                          <a:ea typeface="Canva Sans"/>
                          <a:cs typeface="Canva Sans"/>
                          <a:sym typeface="Canva Sans"/>
                        </a:rPr>
                        <a:t>045205000787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Canva Sans"/>
                          <a:ea typeface="Canva Sans"/>
                          <a:cs typeface="Canva Sans"/>
                          <a:sym typeface="Canva Sans"/>
                        </a:rPr>
                        <a:t>LÊ VĂN TÙNG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https://github.com/tunght2005/programing-mobile-excersise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View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58192">
                <a:tc>
                  <a:txBody>
                    <a:bodyPr anchor="t" rtlCol="false"/>
                    <a:lstStyle/>
                    <a:p>
                      <a:pPr algn="ctr">
                        <a:lnSpc>
                          <a:spcPts val="2520"/>
                        </a:lnSpc>
                        <a:defRPr/>
                      </a:pPr>
                      <a:r>
                        <a:rPr lang="en-US" sz="1800">
                          <a:solidFill>
                            <a:srgbClr val="000000"/>
                          </a:solidFill>
                          <a:latin typeface="Canva Sans"/>
                          <a:ea typeface="Canva Sans"/>
                          <a:cs typeface="Canva Sans"/>
                          <a:sym typeface="Canva Sans"/>
                        </a:rPr>
                        <a:t>046205000170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Canva Sans"/>
                          <a:ea typeface="Canva Sans"/>
                          <a:cs typeface="Canva Sans"/>
                          <a:sym typeface="Canva Sans"/>
                        </a:rPr>
                        <a:t>PHẠM XUÂN DŨNG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https://github.com/Dungpx031005/LapTrinhTBDD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ViewModel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58192">
                <a:tc>
                  <a:txBody>
                    <a:bodyPr anchor="t" rtlCol="false"/>
                    <a:lstStyle/>
                    <a:p>
                      <a:pPr algn="ctr">
                        <a:lnSpc>
                          <a:spcPts val="2520"/>
                        </a:lnSpc>
                        <a:defRPr/>
                      </a:pPr>
                      <a:r>
                        <a:rPr lang="en-US" sz="1800">
                          <a:solidFill>
                            <a:srgbClr val="000000"/>
                          </a:solidFill>
                          <a:latin typeface="Canva Sans"/>
                          <a:ea typeface="Canva Sans"/>
                          <a:cs typeface="Canva Sans"/>
                          <a:sym typeface="Canva Sans"/>
                        </a:rPr>
                        <a:t>080205011244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Canva Sans"/>
                          <a:ea typeface="Canva Sans"/>
                          <a:cs typeface="Canva Sans"/>
                          <a:sym typeface="Canva Sans"/>
                        </a:rPr>
                        <a:t>TRẦN PHÁT TÀI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https://github.com/taitrancoding/LapTrinhTBDD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Canva Sans"/>
                          <a:ea typeface="Canva Sans"/>
                          <a:cs typeface="Canva Sans"/>
                          <a:sym typeface="Canva Sans"/>
                        </a:rPr>
                        <a:t>Model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1602672" y="637691"/>
            <a:ext cx="6494404" cy="1080135"/>
          </a:xfrm>
          <a:prstGeom prst="rect">
            <a:avLst/>
          </a:prstGeom>
        </p:spPr>
        <p:txBody>
          <a:bodyPr anchor="t" rtlCol="false" tIns="0" lIns="0" bIns="0" rIns="0">
            <a:spAutoFit/>
          </a:bodyPr>
          <a:lstStyle/>
          <a:p>
            <a:pPr algn="l">
              <a:lnSpc>
                <a:spcPts val="7619"/>
              </a:lnSpc>
            </a:pPr>
            <a:r>
              <a:rPr lang="en-US" sz="5999" b="true">
                <a:solidFill>
                  <a:srgbClr val="0E2F5F"/>
                </a:solidFill>
                <a:latin typeface="Akzidenz-Grotesk Heavy"/>
                <a:ea typeface="Akzidenz-Grotesk Heavy"/>
                <a:cs typeface="Akzidenz-Grotesk Heavy"/>
                <a:sym typeface="Akzidenz-Grotesk Heavy"/>
              </a:rPr>
              <a:t>Thông tin nhóm</a:t>
            </a:r>
          </a:p>
        </p:txBody>
      </p:sp>
      <p:sp>
        <p:nvSpPr>
          <p:cNvPr name="TextBox 5" id="5"/>
          <p:cNvSpPr txBox="true"/>
          <p:nvPr/>
        </p:nvSpPr>
        <p:spPr>
          <a:xfrm rot="0">
            <a:off x="2670258" y="9326094"/>
            <a:ext cx="13906641" cy="482463"/>
          </a:xfrm>
          <a:prstGeom prst="rect">
            <a:avLst/>
          </a:prstGeom>
        </p:spPr>
        <p:txBody>
          <a:bodyPr anchor="t" rtlCol="false" tIns="0" lIns="0" bIns="0" rIns="0">
            <a:spAutoFit/>
          </a:bodyPr>
          <a:lstStyle/>
          <a:p>
            <a:pPr algn="ctr">
              <a:lnSpc>
                <a:spcPts val="3926"/>
              </a:lnSpc>
            </a:pPr>
            <a:r>
              <a:rPr lang="en-US" sz="2804" b="true">
                <a:solidFill>
                  <a:srgbClr val="0E2F5F"/>
                </a:solidFill>
                <a:latin typeface="Canva Sans Bold"/>
                <a:ea typeface="Canva Sans Bold"/>
                <a:cs typeface="Canva Sans Bold"/>
                <a:sym typeface="Canva Sans Bold"/>
              </a:rPr>
              <a:t>Link đồ án nhóm: https://github.com/tunght2005/app-mobile-QuizLogicIQ</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264511" y="5348601"/>
            <a:ext cx="1025128" cy="1025128"/>
          </a:xfrm>
          <a:custGeom>
            <a:avLst/>
            <a:gdLst/>
            <a:ahLst/>
            <a:cxnLst/>
            <a:rect r="r" b="b" t="t" l="l"/>
            <a:pathLst>
              <a:path h="1025128" w="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1602672" y="1813287"/>
          <a:ext cx="16041814" cy="6660425"/>
        </p:xfrm>
        <a:graphic>
          <a:graphicData uri="http://schemas.openxmlformats.org/drawingml/2006/table">
            <a:tbl>
              <a:tblPr/>
              <a:tblGrid>
                <a:gridCol w="2924126"/>
                <a:gridCol w="5115213"/>
                <a:gridCol w="8002475"/>
              </a:tblGrid>
              <a:tr h="1082517">
                <a:tc>
                  <a:txBody>
                    <a:bodyPr anchor="t" rtlCol="false"/>
                    <a:lstStyle/>
                    <a:p>
                      <a:pPr algn="ctr">
                        <a:lnSpc>
                          <a:spcPts val="4619"/>
                        </a:lnSpc>
                        <a:defRPr/>
                      </a:pPr>
                      <a:r>
                        <a:rPr lang="en-US" sz="3299" b="true">
                          <a:solidFill>
                            <a:srgbClr val="FF3131"/>
                          </a:solidFill>
                          <a:latin typeface="Canva Sans Bold"/>
                          <a:ea typeface="Canva Sans Bold"/>
                          <a:cs typeface="Canva Sans Bold"/>
                          <a:sym typeface="Canva Sans Bold"/>
                        </a:rPr>
                        <a:t>Họ và tên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19"/>
                        </a:lnSpc>
                        <a:defRPr/>
                      </a:pPr>
                      <a:r>
                        <a:rPr lang="en-US" sz="3299" b="true">
                          <a:solidFill>
                            <a:srgbClr val="FF3131"/>
                          </a:solidFill>
                          <a:latin typeface="Canva Sans Bold"/>
                          <a:ea typeface="Canva Sans Bold"/>
                          <a:cs typeface="Canva Sans Bold"/>
                          <a:sym typeface="Canva Sans Bold"/>
                        </a:rPr>
                        <a:t>Link git cá nhân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619"/>
                        </a:lnSpc>
                        <a:defRPr/>
                      </a:pPr>
                      <a:r>
                        <a:rPr lang="en-US" sz="3299" b="true">
                          <a:solidFill>
                            <a:srgbClr val="FF3131"/>
                          </a:solidFill>
                          <a:latin typeface="Canva Sans Bold"/>
                          <a:ea typeface="Canva Sans Bold"/>
                          <a:cs typeface="Canva Sans Bold"/>
                          <a:sym typeface="Canva Sans Bold"/>
                        </a:rPr>
                        <a:t>Chi tiết công việc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59303">
                <a:tc>
                  <a:txBody>
                    <a:bodyPr anchor="t" rtlCol="false"/>
                    <a:lstStyle/>
                    <a:p>
                      <a:pPr algn="ctr">
                        <a:lnSpc>
                          <a:spcPts val="2799"/>
                        </a:lnSpc>
                        <a:defRPr/>
                      </a:pPr>
                      <a:r>
                        <a:rPr lang="en-US" sz="1999" b="true">
                          <a:solidFill>
                            <a:srgbClr val="000000"/>
                          </a:solidFill>
                          <a:latin typeface="Canva Sans Bold"/>
                          <a:ea typeface="Canva Sans Bold"/>
                          <a:cs typeface="Canva Sans Bold"/>
                          <a:sym typeface="Canva Sans Bold"/>
                        </a:rPr>
                        <a:t>LÊ VĂN TÙNG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Canva Sans Bold"/>
                          <a:ea typeface="Canva Sans Bold"/>
                          <a:cs typeface="Canva Sans Bold"/>
                          <a:sym typeface="Canva Sans Bold"/>
                        </a:rPr>
                        <a:t>https://github.com/tunght2005/programing-mobile-excersise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Canva Sans Bold"/>
                          <a:ea typeface="Canva Sans Bold"/>
                          <a:cs typeface="Canva Sans Bold"/>
                          <a:sym typeface="Canva Sans Bold"/>
                        </a:rPr>
                        <a:t>Xử lí UI/UX, làm slide, báo cáo, testing, latex, hỗ trợ API, quản lý nhóm, demo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59303">
                <a:tc>
                  <a:txBody>
                    <a:bodyPr anchor="t" rtlCol="false"/>
                    <a:lstStyle/>
                    <a:p>
                      <a:pPr algn="ctr">
                        <a:lnSpc>
                          <a:spcPts val="2799"/>
                        </a:lnSpc>
                        <a:defRPr/>
                      </a:pPr>
                      <a:r>
                        <a:rPr lang="en-US" sz="1999" b="true">
                          <a:solidFill>
                            <a:srgbClr val="000000"/>
                          </a:solidFill>
                          <a:latin typeface="Canva Sans Bold"/>
                          <a:ea typeface="Canva Sans Bold"/>
                          <a:cs typeface="Canva Sans Bold"/>
                          <a:sym typeface="Canva Sans Bold"/>
                        </a:rPr>
                        <a:t>PHẠM XUÂN DŨNG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Canva Sans Bold"/>
                          <a:ea typeface="Canva Sans Bold"/>
                          <a:cs typeface="Canva Sans Bold"/>
                          <a:sym typeface="Canva Sans Bold"/>
                        </a:rPr>
                        <a:t>https://github.com/Dungpx031005/LapTrinhTBDD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Canva Sans Bold"/>
                          <a:ea typeface="Canva Sans Bold"/>
                          <a:cs typeface="Canva Sans Bold"/>
                          <a:sym typeface="Canva Sans Bold"/>
                        </a:rPr>
                        <a:t>API liên kết View với Model,làm slide,báo cáo,kết nói Firebase,Xử lí đăng nhập bằng Google,thuyết trình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59303">
                <a:tc>
                  <a:txBody>
                    <a:bodyPr anchor="t" rtlCol="false"/>
                    <a:lstStyle/>
                    <a:p>
                      <a:pPr algn="ctr">
                        <a:lnSpc>
                          <a:spcPts val="2799"/>
                        </a:lnSpc>
                        <a:defRPr/>
                      </a:pPr>
                      <a:r>
                        <a:rPr lang="en-US" sz="1999" b="true">
                          <a:solidFill>
                            <a:srgbClr val="000000"/>
                          </a:solidFill>
                          <a:latin typeface="Canva Sans Bold"/>
                          <a:ea typeface="Canva Sans Bold"/>
                          <a:cs typeface="Canva Sans Bold"/>
                          <a:sym typeface="Canva Sans Bold"/>
                        </a:rPr>
                        <a:t>TRẦN PHÁT TÀI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Canva Sans Bold"/>
                          <a:ea typeface="Canva Sans Bold"/>
                          <a:cs typeface="Canva Sans Bold"/>
                          <a:sym typeface="Canva Sans Bold"/>
                        </a:rPr>
                        <a:t>https://github.com/taitrancoding/LapTrinhTBDD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Canva Sans Bold"/>
                          <a:ea typeface="Canva Sans Bold"/>
                          <a:cs typeface="Canva Sans Bold"/>
                          <a:sym typeface="Canva Sans Bold"/>
                        </a:rPr>
                        <a:t>Xử lí dữ liệu Model,làm báo cáo,làm slide,kết nối Firebase,hỗ trợ API,thuyết trình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1602672" y="402907"/>
            <a:ext cx="10263542" cy="1080135"/>
          </a:xfrm>
          <a:prstGeom prst="rect">
            <a:avLst/>
          </a:prstGeom>
        </p:spPr>
        <p:txBody>
          <a:bodyPr anchor="t" rtlCol="false" tIns="0" lIns="0" bIns="0" rIns="0">
            <a:spAutoFit/>
          </a:bodyPr>
          <a:lstStyle/>
          <a:p>
            <a:pPr algn="l">
              <a:lnSpc>
                <a:spcPts val="7619"/>
              </a:lnSpc>
            </a:pPr>
            <a:r>
              <a:rPr lang="en-US" sz="5999" b="true">
                <a:solidFill>
                  <a:srgbClr val="0E2F5F"/>
                </a:solidFill>
                <a:latin typeface="Akzidenz-Grotesk Heavy"/>
                <a:ea typeface="Akzidenz-Grotesk Heavy"/>
                <a:cs typeface="Akzidenz-Grotesk Heavy"/>
                <a:sym typeface="Akzidenz-Grotesk Heavy"/>
              </a:rPr>
              <a:t>Thông tin chi tiết nhóm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848550" y="2782372"/>
            <a:ext cx="4829892" cy="5894830"/>
            <a:chOff x="0" y="0"/>
            <a:chExt cx="1272070" cy="1552548"/>
          </a:xfrm>
        </p:grpSpPr>
        <p:sp>
          <p:nvSpPr>
            <p:cNvPr name="Freeform 3" id="3"/>
            <p:cNvSpPr/>
            <p:nvPr/>
          </p:nvSpPr>
          <p:spPr>
            <a:xfrm flipH="false" flipV="false" rot="0">
              <a:off x="0" y="0"/>
              <a:ext cx="1272070" cy="1552548"/>
            </a:xfrm>
            <a:custGeom>
              <a:avLst/>
              <a:gdLst/>
              <a:ahLst/>
              <a:cxnLst/>
              <a:rect r="r" b="b" t="t" l="l"/>
              <a:pathLst>
                <a:path h="1552548" w="1272070">
                  <a:moveTo>
                    <a:pt x="94572" y="0"/>
                  </a:moveTo>
                  <a:lnTo>
                    <a:pt x="1177498" y="0"/>
                  </a:lnTo>
                  <a:cubicBezTo>
                    <a:pt x="1229729" y="0"/>
                    <a:pt x="1272070" y="42341"/>
                    <a:pt x="1272070" y="94572"/>
                  </a:cubicBezTo>
                  <a:lnTo>
                    <a:pt x="1272070" y="1457976"/>
                  </a:lnTo>
                  <a:cubicBezTo>
                    <a:pt x="1272070" y="1483058"/>
                    <a:pt x="1262106" y="1507113"/>
                    <a:pt x="1244371" y="1524848"/>
                  </a:cubicBezTo>
                  <a:cubicBezTo>
                    <a:pt x="1226635" y="1542584"/>
                    <a:pt x="1202580" y="1552548"/>
                    <a:pt x="1177498" y="1552548"/>
                  </a:cubicBezTo>
                  <a:lnTo>
                    <a:pt x="94572" y="1552548"/>
                  </a:lnTo>
                  <a:cubicBezTo>
                    <a:pt x="69490" y="1552548"/>
                    <a:pt x="45435" y="1542584"/>
                    <a:pt x="27700" y="1524848"/>
                  </a:cubicBezTo>
                  <a:cubicBezTo>
                    <a:pt x="9964" y="1507113"/>
                    <a:pt x="0" y="1483058"/>
                    <a:pt x="0" y="1457976"/>
                  </a:cubicBezTo>
                  <a:lnTo>
                    <a:pt x="0" y="94572"/>
                  </a:lnTo>
                  <a:cubicBezTo>
                    <a:pt x="0" y="69490"/>
                    <a:pt x="9964" y="45435"/>
                    <a:pt x="27700" y="27700"/>
                  </a:cubicBezTo>
                  <a:cubicBezTo>
                    <a:pt x="45435" y="9964"/>
                    <a:pt x="69490" y="0"/>
                    <a:pt x="94572" y="0"/>
                  </a:cubicBezTo>
                  <a:close/>
                </a:path>
              </a:pathLst>
            </a:custGeom>
            <a:solidFill>
              <a:srgbClr val="E1EDFC"/>
            </a:solidFill>
          </p:spPr>
        </p:sp>
        <p:sp>
          <p:nvSpPr>
            <p:cNvPr name="TextBox 4" id="4"/>
            <p:cNvSpPr txBox="true"/>
            <p:nvPr/>
          </p:nvSpPr>
          <p:spPr>
            <a:xfrm>
              <a:off x="0" y="-47625"/>
              <a:ext cx="1272070" cy="1600173"/>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4511061" y="315371"/>
            <a:ext cx="12197667" cy="4434228"/>
          </a:xfrm>
          <a:custGeom>
            <a:avLst/>
            <a:gdLst/>
            <a:ahLst/>
            <a:cxnLst/>
            <a:rect r="r" b="b" t="t" l="l"/>
            <a:pathLst>
              <a:path h="4434228" w="12197667">
                <a:moveTo>
                  <a:pt x="0" y="0"/>
                </a:moveTo>
                <a:lnTo>
                  <a:pt x="12197666" y="0"/>
                </a:lnTo>
                <a:lnTo>
                  <a:pt x="12197666" y="4434228"/>
                </a:lnTo>
                <a:lnTo>
                  <a:pt x="0" y="4434228"/>
                </a:lnTo>
                <a:lnTo>
                  <a:pt x="0" y="0"/>
                </a:lnTo>
                <a:close/>
              </a:path>
            </a:pathLst>
          </a:custGeom>
          <a:blipFill>
            <a:blip r:embed="rId2"/>
            <a:stretch>
              <a:fillRect l="-726" t="-4602" r="0" b="-4602"/>
            </a:stretch>
          </a:blipFill>
        </p:spPr>
      </p:sp>
      <p:sp>
        <p:nvSpPr>
          <p:cNvPr name="Freeform 6" id="6"/>
          <p:cNvSpPr/>
          <p:nvPr/>
        </p:nvSpPr>
        <p:spPr>
          <a:xfrm flipH="false" flipV="false" rot="0">
            <a:off x="6966793" y="4987175"/>
            <a:ext cx="2177207" cy="4838237"/>
          </a:xfrm>
          <a:custGeom>
            <a:avLst/>
            <a:gdLst/>
            <a:ahLst/>
            <a:cxnLst/>
            <a:rect r="r" b="b" t="t" l="l"/>
            <a:pathLst>
              <a:path h="4838237" w="2177207">
                <a:moveTo>
                  <a:pt x="0" y="0"/>
                </a:moveTo>
                <a:lnTo>
                  <a:pt x="2177207" y="0"/>
                </a:lnTo>
                <a:lnTo>
                  <a:pt x="2177207" y="4838237"/>
                </a:lnTo>
                <a:lnTo>
                  <a:pt x="0" y="4838237"/>
                </a:lnTo>
                <a:lnTo>
                  <a:pt x="0" y="0"/>
                </a:lnTo>
                <a:close/>
              </a:path>
            </a:pathLst>
          </a:custGeom>
          <a:blipFill>
            <a:blip r:embed="rId3"/>
            <a:stretch>
              <a:fillRect l="0" t="0" r="0" b="0"/>
            </a:stretch>
          </a:blipFill>
        </p:spPr>
      </p:sp>
      <p:sp>
        <p:nvSpPr>
          <p:cNvPr name="Freeform 7" id="7"/>
          <p:cNvSpPr/>
          <p:nvPr/>
        </p:nvSpPr>
        <p:spPr>
          <a:xfrm flipH="false" flipV="false" rot="0">
            <a:off x="9410700" y="5017148"/>
            <a:ext cx="2171810" cy="4826244"/>
          </a:xfrm>
          <a:custGeom>
            <a:avLst/>
            <a:gdLst/>
            <a:ahLst/>
            <a:cxnLst/>
            <a:rect r="r" b="b" t="t" l="l"/>
            <a:pathLst>
              <a:path h="4826244" w="2171810">
                <a:moveTo>
                  <a:pt x="0" y="0"/>
                </a:moveTo>
                <a:lnTo>
                  <a:pt x="2171810" y="0"/>
                </a:lnTo>
                <a:lnTo>
                  <a:pt x="2171810" y="4826244"/>
                </a:lnTo>
                <a:lnTo>
                  <a:pt x="0" y="4826244"/>
                </a:lnTo>
                <a:lnTo>
                  <a:pt x="0" y="0"/>
                </a:lnTo>
                <a:close/>
              </a:path>
            </a:pathLst>
          </a:custGeom>
          <a:blipFill>
            <a:blip r:embed="rId4"/>
            <a:stretch>
              <a:fillRect l="0" t="0" r="0" b="0"/>
            </a:stretch>
          </a:blipFill>
        </p:spPr>
      </p:sp>
      <p:sp>
        <p:nvSpPr>
          <p:cNvPr name="Freeform 8" id="8"/>
          <p:cNvSpPr/>
          <p:nvPr/>
        </p:nvSpPr>
        <p:spPr>
          <a:xfrm flipH="false" flipV="false" rot="0">
            <a:off x="11964109" y="4986028"/>
            <a:ext cx="2177723" cy="4839383"/>
          </a:xfrm>
          <a:custGeom>
            <a:avLst/>
            <a:gdLst/>
            <a:ahLst/>
            <a:cxnLst/>
            <a:rect r="r" b="b" t="t" l="l"/>
            <a:pathLst>
              <a:path h="4839383" w="2177723">
                <a:moveTo>
                  <a:pt x="0" y="0"/>
                </a:moveTo>
                <a:lnTo>
                  <a:pt x="2177722" y="0"/>
                </a:lnTo>
                <a:lnTo>
                  <a:pt x="2177722" y="4839384"/>
                </a:lnTo>
                <a:lnTo>
                  <a:pt x="0" y="4839384"/>
                </a:lnTo>
                <a:lnTo>
                  <a:pt x="0" y="0"/>
                </a:lnTo>
                <a:close/>
              </a:path>
            </a:pathLst>
          </a:custGeom>
          <a:blipFill>
            <a:blip r:embed="rId5"/>
            <a:stretch>
              <a:fillRect l="0" t="0" r="0" b="0"/>
            </a:stretch>
          </a:blipFill>
        </p:spPr>
      </p:sp>
      <p:sp>
        <p:nvSpPr>
          <p:cNvPr name="Freeform 9" id="9"/>
          <p:cNvSpPr/>
          <p:nvPr/>
        </p:nvSpPr>
        <p:spPr>
          <a:xfrm flipH="false" flipV="false" rot="0">
            <a:off x="4511061" y="5004008"/>
            <a:ext cx="2189032" cy="4864516"/>
          </a:xfrm>
          <a:custGeom>
            <a:avLst/>
            <a:gdLst/>
            <a:ahLst/>
            <a:cxnLst/>
            <a:rect r="r" b="b" t="t" l="l"/>
            <a:pathLst>
              <a:path h="4864516" w="2189032">
                <a:moveTo>
                  <a:pt x="0" y="0"/>
                </a:moveTo>
                <a:lnTo>
                  <a:pt x="2189032" y="0"/>
                </a:lnTo>
                <a:lnTo>
                  <a:pt x="2189032" y="4864517"/>
                </a:lnTo>
                <a:lnTo>
                  <a:pt x="0" y="4864517"/>
                </a:lnTo>
                <a:lnTo>
                  <a:pt x="0" y="0"/>
                </a:lnTo>
                <a:close/>
              </a:path>
            </a:pathLst>
          </a:custGeom>
          <a:blipFill>
            <a:blip r:embed="rId6"/>
            <a:stretch>
              <a:fillRect l="0" t="0" r="0" b="0"/>
            </a:stretch>
          </a:blipFill>
        </p:spPr>
      </p:sp>
      <p:sp>
        <p:nvSpPr>
          <p:cNvPr name="Freeform 10" id="10"/>
          <p:cNvSpPr/>
          <p:nvPr/>
        </p:nvSpPr>
        <p:spPr>
          <a:xfrm flipH="false" flipV="false" rot="0">
            <a:off x="14523430" y="4987175"/>
            <a:ext cx="2185298" cy="4856217"/>
          </a:xfrm>
          <a:custGeom>
            <a:avLst/>
            <a:gdLst/>
            <a:ahLst/>
            <a:cxnLst/>
            <a:rect r="r" b="b" t="t" l="l"/>
            <a:pathLst>
              <a:path h="4856217" w="2185298">
                <a:moveTo>
                  <a:pt x="0" y="0"/>
                </a:moveTo>
                <a:lnTo>
                  <a:pt x="2185297" y="0"/>
                </a:lnTo>
                <a:lnTo>
                  <a:pt x="2185297" y="4856217"/>
                </a:lnTo>
                <a:lnTo>
                  <a:pt x="0" y="4856217"/>
                </a:lnTo>
                <a:lnTo>
                  <a:pt x="0" y="0"/>
                </a:lnTo>
                <a:close/>
              </a:path>
            </a:pathLst>
          </a:custGeom>
          <a:blipFill>
            <a:blip r:embed="rId7"/>
            <a:stretch>
              <a:fillRect l="0" t="0" r="0" b="0"/>
            </a:stretch>
          </a:blipFill>
        </p:spPr>
      </p:sp>
      <p:sp>
        <p:nvSpPr>
          <p:cNvPr name="TextBox 11" id="11"/>
          <p:cNvSpPr txBox="true"/>
          <p:nvPr/>
        </p:nvSpPr>
        <p:spPr>
          <a:xfrm rot="0">
            <a:off x="549749" y="563525"/>
            <a:ext cx="3477040" cy="893011"/>
          </a:xfrm>
          <a:prstGeom prst="rect">
            <a:avLst/>
          </a:prstGeom>
        </p:spPr>
        <p:txBody>
          <a:bodyPr anchor="t" rtlCol="false" tIns="0" lIns="0" bIns="0" rIns="0">
            <a:spAutoFit/>
          </a:bodyPr>
          <a:lstStyle/>
          <a:p>
            <a:pPr algn="l">
              <a:lnSpc>
                <a:spcPts val="7137"/>
              </a:lnSpc>
            </a:pPr>
            <a:r>
              <a:rPr lang="en-US" sz="5620" b="true">
                <a:solidFill>
                  <a:srgbClr val="0E2F5F"/>
                </a:solidFill>
                <a:latin typeface="Canva Sans Bold"/>
                <a:ea typeface="Canva Sans Bold"/>
                <a:cs typeface="Canva Sans Bold"/>
                <a:sym typeface="Canva Sans Bold"/>
              </a:rPr>
              <a:t>THIẾT KẾ </a:t>
            </a:r>
          </a:p>
        </p:txBody>
      </p:sp>
      <p:sp>
        <p:nvSpPr>
          <p:cNvPr name="TextBox 12" id="12"/>
          <p:cNvSpPr txBox="true"/>
          <p:nvPr/>
        </p:nvSpPr>
        <p:spPr>
          <a:xfrm rot="0">
            <a:off x="721629" y="7714542"/>
            <a:ext cx="3133279" cy="962660"/>
          </a:xfrm>
          <a:prstGeom prst="rect">
            <a:avLst/>
          </a:prstGeom>
        </p:spPr>
        <p:txBody>
          <a:bodyPr anchor="t" rtlCol="false" tIns="0" lIns="0" bIns="0" rIns="0">
            <a:spAutoFit/>
          </a:bodyPr>
          <a:lstStyle/>
          <a:p>
            <a:pPr algn="ctr">
              <a:lnSpc>
                <a:spcPts val="7840"/>
              </a:lnSpc>
              <a:spcBef>
                <a:spcPct val="0"/>
              </a:spcBef>
            </a:pPr>
            <a:r>
              <a:rPr lang="en-US" b="true" sz="5600">
                <a:solidFill>
                  <a:srgbClr val="0E2F5F"/>
                </a:solidFill>
                <a:latin typeface="Canva Sans Bold"/>
                <a:ea typeface="Canva Sans Bold"/>
                <a:cs typeface="Canva Sans Bold"/>
                <a:sym typeface="Canva Sans Bold"/>
              </a:rPr>
              <a:t>THỰC TẾ</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64141" y="2724884"/>
            <a:ext cx="5424744" cy="1151311"/>
            <a:chOff x="0" y="0"/>
            <a:chExt cx="1428739" cy="303226"/>
          </a:xfrm>
        </p:grpSpPr>
        <p:sp>
          <p:nvSpPr>
            <p:cNvPr name="Freeform 3" id="3"/>
            <p:cNvSpPr/>
            <p:nvPr/>
          </p:nvSpPr>
          <p:spPr>
            <a:xfrm flipH="false" flipV="false" rot="0">
              <a:off x="0" y="0"/>
              <a:ext cx="1428739" cy="303226"/>
            </a:xfrm>
            <a:custGeom>
              <a:avLst/>
              <a:gdLst/>
              <a:ahLst/>
              <a:cxnLst/>
              <a:rect r="r" b="b" t="t" l="l"/>
              <a:pathLst>
                <a:path h="303226" w="1428739">
                  <a:moveTo>
                    <a:pt x="72785" y="0"/>
                  </a:moveTo>
                  <a:lnTo>
                    <a:pt x="1355955" y="0"/>
                  </a:lnTo>
                  <a:cubicBezTo>
                    <a:pt x="1375258" y="0"/>
                    <a:pt x="1393771" y="7668"/>
                    <a:pt x="1407421" y="21318"/>
                  </a:cubicBezTo>
                  <a:cubicBezTo>
                    <a:pt x="1421071" y="34968"/>
                    <a:pt x="1428739" y="53481"/>
                    <a:pt x="1428739" y="72785"/>
                  </a:cubicBezTo>
                  <a:lnTo>
                    <a:pt x="1428739" y="230441"/>
                  </a:lnTo>
                  <a:cubicBezTo>
                    <a:pt x="1428739" y="270639"/>
                    <a:pt x="1396152" y="303226"/>
                    <a:pt x="1355955" y="303226"/>
                  </a:cubicBezTo>
                  <a:lnTo>
                    <a:pt x="72785" y="303226"/>
                  </a:lnTo>
                  <a:cubicBezTo>
                    <a:pt x="53481" y="303226"/>
                    <a:pt x="34968" y="295558"/>
                    <a:pt x="21318" y="281908"/>
                  </a:cubicBezTo>
                  <a:cubicBezTo>
                    <a:pt x="7668" y="268258"/>
                    <a:pt x="0" y="249745"/>
                    <a:pt x="0" y="230441"/>
                  </a:cubicBezTo>
                  <a:lnTo>
                    <a:pt x="0" y="72785"/>
                  </a:lnTo>
                  <a:cubicBezTo>
                    <a:pt x="0" y="32587"/>
                    <a:pt x="32587" y="0"/>
                    <a:pt x="72785" y="0"/>
                  </a:cubicBezTo>
                  <a:close/>
                </a:path>
              </a:pathLst>
            </a:custGeom>
            <a:solidFill>
              <a:srgbClr val="5188CC"/>
            </a:solidFill>
          </p:spPr>
        </p:sp>
        <p:sp>
          <p:nvSpPr>
            <p:cNvPr name="TextBox 4" id="4"/>
            <p:cNvSpPr txBox="true"/>
            <p:nvPr/>
          </p:nvSpPr>
          <p:spPr>
            <a:xfrm>
              <a:off x="0" y="-47625"/>
              <a:ext cx="1428739" cy="350851"/>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6613908" y="1749888"/>
            <a:ext cx="5185129" cy="978060"/>
            <a:chOff x="0" y="0"/>
            <a:chExt cx="1365631" cy="257596"/>
          </a:xfrm>
        </p:grpSpPr>
        <p:sp>
          <p:nvSpPr>
            <p:cNvPr name="Freeform 6" id="6"/>
            <p:cNvSpPr/>
            <p:nvPr/>
          </p:nvSpPr>
          <p:spPr>
            <a:xfrm flipH="false" flipV="false" rot="0">
              <a:off x="0" y="0"/>
              <a:ext cx="1365631" cy="257596"/>
            </a:xfrm>
            <a:custGeom>
              <a:avLst/>
              <a:gdLst/>
              <a:ahLst/>
              <a:cxnLst/>
              <a:rect r="r" b="b" t="t" l="l"/>
              <a:pathLst>
                <a:path h="257596" w="1365631">
                  <a:moveTo>
                    <a:pt x="76148" y="0"/>
                  </a:moveTo>
                  <a:lnTo>
                    <a:pt x="1289482" y="0"/>
                  </a:lnTo>
                  <a:cubicBezTo>
                    <a:pt x="1331538" y="0"/>
                    <a:pt x="1365631" y="34093"/>
                    <a:pt x="1365631" y="76148"/>
                  </a:cubicBezTo>
                  <a:lnTo>
                    <a:pt x="1365631" y="181448"/>
                  </a:lnTo>
                  <a:cubicBezTo>
                    <a:pt x="1365631" y="223503"/>
                    <a:pt x="1331538" y="257596"/>
                    <a:pt x="1289482" y="257596"/>
                  </a:cubicBezTo>
                  <a:lnTo>
                    <a:pt x="76148" y="257596"/>
                  </a:lnTo>
                  <a:cubicBezTo>
                    <a:pt x="34093" y="257596"/>
                    <a:pt x="0" y="223503"/>
                    <a:pt x="0" y="181448"/>
                  </a:cubicBezTo>
                  <a:lnTo>
                    <a:pt x="0" y="76148"/>
                  </a:lnTo>
                  <a:cubicBezTo>
                    <a:pt x="0" y="34093"/>
                    <a:pt x="34093" y="0"/>
                    <a:pt x="76148" y="0"/>
                  </a:cubicBezTo>
                  <a:close/>
                </a:path>
              </a:pathLst>
            </a:custGeom>
            <a:solidFill>
              <a:srgbClr val="5188CC"/>
            </a:solidFill>
          </p:spPr>
        </p:sp>
        <p:sp>
          <p:nvSpPr>
            <p:cNvPr name="TextBox 7" id="7"/>
            <p:cNvSpPr txBox="true"/>
            <p:nvPr/>
          </p:nvSpPr>
          <p:spPr>
            <a:xfrm>
              <a:off x="0" y="-47625"/>
              <a:ext cx="1365631" cy="305221"/>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2199115" y="2724884"/>
            <a:ext cx="5638252" cy="1114362"/>
            <a:chOff x="0" y="0"/>
            <a:chExt cx="1484972" cy="293495"/>
          </a:xfrm>
        </p:grpSpPr>
        <p:sp>
          <p:nvSpPr>
            <p:cNvPr name="Freeform 9" id="9"/>
            <p:cNvSpPr/>
            <p:nvPr/>
          </p:nvSpPr>
          <p:spPr>
            <a:xfrm flipH="false" flipV="false" rot="0">
              <a:off x="0" y="0"/>
              <a:ext cx="1484972" cy="293495"/>
            </a:xfrm>
            <a:custGeom>
              <a:avLst/>
              <a:gdLst/>
              <a:ahLst/>
              <a:cxnLst/>
              <a:rect r="r" b="b" t="t" l="l"/>
              <a:pathLst>
                <a:path h="293495" w="1484972">
                  <a:moveTo>
                    <a:pt x="70028" y="0"/>
                  </a:moveTo>
                  <a:lnTo>
                    <a:pt x="1414943" y="0"/>
                  </a:lnTo>
                  <a:cubicBezTo>
                    <a:pt x="1433516" y="0"/>
                    <a:pt x="1451328" y="7378"/>
                    <a:pt x="1464461" y="20511"/>
                  </a:cubicBezTo>
                  <a:cubicBezTo>
                    <a:pt x="1477594" y="33644"/>
                    <a:pt x="1484972" y="51456"/>
                    <a:pt x="1484972" y="70028"/>
                  </a:cubicBezTo>
                  <a:lnTo>
                    <a:pt x="1484972" y="223466"/>
                  </a:lnTo>
                  <a:cubicBezTo>
                    <a:pt x="1484972" y="242039"/>
                    <a:pt x="1477594" y="259851"/>
                    <a:pt x="1464461" y="272984"/>
                  </a:cubicBezTo>
                  <a:cubicBezTo>
                    <a:pt x="1451328" y="286117"/>
                    <a:pt x="1433516" y="293495"/>
                    <a:pt x="1414943" y="293495"/>
                  </a:cubicBezTo>
                  <a:lnTo>
                    <a:pt x="70028" y="293495"/>
                  </a:lnTo>
                  <a:cubicBezTo>
                    <a:pt x="51456" y="293495"/>
                    <a:pt x="33644" y="286117"/>
                    <a:pt x="20511" y="272984"/>
                  </a:cubicBezTo>
                  <a:cubicBezTo>
                    <a:pt x="7378" y="259851"/>
                    <a:pt x="0" y="242039"/>
                    <a:pt x="0" y="223466"/>
                  </a:cubicBezTo>
                  <a:lnTo>
                    <a:pt x="0" y="70028"/>
                  </a:lnTo>
                  <a:cubicBezTo>
                    <a:pt x="0" y="51456"/>
                    <a:pt x="7378" y="33644"/>
                    <a:pt x="20511" y="20511"/>
                  </a:cubicBezTo>
                  <a:cubicBezTo>
                    <a:pt x="33644" y="7378"/>
                    <a:pt x="51456" y="0"/>
                    <a:pt x="70028" y="0"/>
                  </a:cubicBezTo>
                  <a:close/>
                </a:path>
              </a:pathLst>
            </a:custGeom>
            <a:solidFill>
              <a:srgbClr val="5188CC"/>
            </a:solidFill>
          </p:spPr>
        </p:sp>
        <p:sp>
          <p:nvSpPr>
            <p:cNvPr name="TextBox 10" id="10"/>
            <p:cNvSpPr txBox="true"/>
            <p:nvPr/>
          </p:nvSpPr>
          <p:spPr>
            <a:xfrm>
              <a:off x="0" y="-47625"/>
              <a:ext cx="1484972" cy="341120"/>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846420" y="4723413"/>
            <a:ext cx="5060185" cy="1998158"/>
            <a:chOff x="0" y="0"/>
            <a:chExt cx="1332724" cy="526264"/>
          </a:xfrm>
        </p:grpSpPr>
        <p:sp>
          <p:nvSpPr>
            <p:cNvPr name="Freeform 12" id="12"/>
            <p:cNvSpPr/>
            <p:nvPr/>
          </p:nvSpPr>
          <p:spPr>
            <a:xfrm flipH="false" flipV="false" rot="0">
              <a:off x="0" y="0"/>
              <a:ext cx="1332724" cy="526264"/>
            </a:xfrm>
            <a:custGeom>
              <a:avLst/>
              <a:gdLst/>
              <a:ahLst/>
              <a:cxnLst/>
              <a:rect r="r" b="b" t="t" l="l"/>
              <a:pathLst>
                <a:path h="526264" w="1332724">
                  <a:moveTo>
                    <a:pt x="29069" y="0"/>
                  </a:moveTo>
                  <a:lnTo>
                    <a:pt x="1303654" y="0"/>
                  </a:lnTo>
                  <a:cubicBezTo>
                    <a:pt x="1319709" y="0"/>
                    <a:pt x="1332724" y="13015"/>
                    <a:pt x="1332724" y="29069"/>
                  </a:cubicBezTo>
                  <a:lnTo>
                    <a:pt x="1332724" y="497195"/>
                  </a:lnTo>
                  <a:cubicBezTo>
                    <a:pt x="1332724" y="504904"/>
                    <a:pt x="1329661" y="512298"/>
                    <a:pt x="1324209" y="517750"/>
                  </a:cubicBezTo>
                  <a:cubicBezTo>
                    <a:pt x="1318758" y="523201"/>
                    <a:pt x="1311364" y="526264"/>
                    <a:pt x="1303654" y="526264"/>
                  </a:cubicBezTo>
                  <a:lnTo>
                    <a:pt x="29069" y="526264"/>
                  </a:lnTo>
                  <a:cubicBezTo>
                    <a:pt x="13015" y="526264"/>
                    <a:pt x="0" y="513249"/>
                    <a:pt x="0" y="497195"/>
                  </a:cubicBezTo>
                  <a:lnTo>
                    <a:pt x="0" y="29069"/>
                  </a:lnTo>
                  <a:cubicBezTo>
                    <a:pt x="0" y="13015"/>
                    <a:pt x="13015" y="0"/>
                    <a:pt x="29069" y="0"/>
                  </a:cubicBezTo>
                  <a:close/>
                </a:path>
              </a:pathLst>
            </a:custGeom>
            <a:solidFill>
              <a:srgbClr val="3A577B"/>
            </a:solidFill>
          </p:spPr>
        </p:sp>
        <p:sp>
          <p:nvSpPr>
            <p:cNvPr name="TextBox 13" id="13"/>
            <p:cNvSpPr txBox="true"/>
            <p:nvPr/>
          </p:nvSpPr>
          <p:spPr>
            <a:xfrm>
              <a:off x="0" y="-47625"/>
              <a:ext cx="1332724" cy="573889"/>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6738851" y="4144421"/>
            <a:ext cx="5060185" cy="1998158"/>
            <a:chOff x="0" y="0"/>
            <a:chExt cx="1332724" cy="526264"/>
          </a:xfrm>
        </p:grpSpPr>
        <p:sp>
          <p:nvSpPr>
            <p:cNvPr name="Freeform 15" id="15"/>
            <p:cNvSpPr/>
            <p:nvPr/>
          </p:nvSpPr>
          <p:spPr>
            <a:xfrm flipH="false" flipV="false" rot="0">
              <a:off x="0" y="0"/>
              <a:ext cx="1332724" cy="526264"/>
            </a:xfrm>
            <a:custGeom>
              <a:avLst/>
              <a:gdLst/>
              <a:ahLst/>
              <a:cxnLst/>
              <a:rect r="r" b="b" t="t" l="l"/>
              <a:pathLst>
                <a:path h="526264" w="1332724">
                  <a:moveTo>
                    <a:pt x="29069" y="0"/>
                  </a:moveTo>
                  <a:lnTo>
                    <a:pt x="1303654" y="0"/>
                  </a:lnTo>
                  <a:cubicBezTo>
                    <a:pt x="1319709" y="0"/>
                    <a:pt x="1332724" y="13015"/>
                    <a:pt x="1332724" y="29069"/>
                  </a:cubicBezTo>
                  <a:lnTo>
                    <a:pt x="1332724" y="497195"/>
                  </a:lnTo>
                  <a:cubicBezTo>
                    <a:pt x="1332724" y="504904"/>
                    <a:pt x="1329661" y="512298"/>
                    <a:pt x="1324209" y="517750"/>
                  </a:cubicBezTo>
                  <a:cubicBezTo>
                    <a:pt x="1318758" y="523201"/>
                    <a:pt x="1311364" y="526264"/>
                    <a:pt x="1303654" y="526264"/>
                  </a:cubicBezTo>
                  <a:lnTo>
                    <a:pt x="29069" y="526264"/>
                  </a:lnTo>
                  <a:cubicBezTo>
                    <a:pt x="13015" y="526264"/>
                    <a:pt x="0" y="513249"/>
                    <a:pt x="0" y="497195"/>
                  </a:cubicBezTo>
                  <a:lnTo>
                    <a:pt x="0" y="29069"/>
                  </a:lnTo>
                  <a:cubicBezTo>
                    <a:pt x="0" y="13015"/>
                    <a:pt x="13015" y="0"/>
                    <a:pt x="29069" y="0"/>
                  </a:cubicBezTo>
                  <a:close/>
                </a:path>
              </a:pathLst>
            </a:custGeom>
            <a:solidFill>
              <a:srgbClr val="3A577B"/>
            </a:solidFill>
          </p:spPr>
        </p:sp>
        <p:sp>
          <p:nvSpPr>
            <p:cNvPr name="TextBox 16" id="16"/>
            <p:cNvSpPr txBox="true"/>
            <p:nvPr/>
          </p:nvSpPr>
          <p:spPr>
            <a:xfrm>
              <a:off x="0" y="-47625"/>
              <a:ext cx="1332724" cy="573889"/>
            </a:xfrm>
            <a:prstGeom prst="rect">
              <a:avLst/>
            </a:prstGeom>
          </p:spPr>
          <p:txBody>
            <a:bodyPr anchor="ctr" rtlCol="false" tIns="50800" lIns="50800" bIns="50800" rIns="50800"/>
            <a:lstStyle/>
            <a:p>
              <a:pPr algn="ctr">
                <a:lnSpc>
                  <a:spcPts val="2800"/>
                </a:lnSpc>
              </a:pPr>
            </a:p>
          </p:txBody>
        </p:sp>
      </p:grpSp>
      <p:grpSp>
        <p:nvGrpSpPr>
          <p:cNvPr name="Group 17" id="17"/>
          <p:cNvGrpSpPr/>
          <p:nvPr/>
        </p:nvGrpSpPr>
        <p:grpSpPr>
          <a:xfrm rot="0">
            <a:off x="12578053" y="4502760"/>
            <a:ext cx="5060185" cy="1998158"/>
            <a:chOff x="0" y="0"/>
            <a:chExt cx="1332724" cy="526264"/>
          </a:xfrm>
        </p:grpSpPr>
        <p:sp>
          <p:nvSpPr>
            <p:cNvPr name="Freeform 18" id="18"/>
            <p:cNvSpPr/>
            <p:nvPr/>
          </p:nvSpPr>
          <p:spPr>
            <a:xfrm flipH="false" flipV="false" rot="0">
              <a:off x="0" y="0"/>
              <a:ext cx="1332724" cy="526264"/>
            </a:xfrm>
            <a:custGeom>
              <a:avLst/>
              <a:gdLst/>
              <a:ahLst/>
              <a:cxnLst/>
              <a:rect r="r" b="b" t="t" l="l"/>
              <a:pathLst>
                <a:path h="526264" w="1332724">
                  <a:moveTo>
                    <a:pt x="29069" y="0"/>
                  </a:moveTo>
                  <a:lnTo>
                    <a:pt x="1303654" y="0"/>
                  </a:lnTo>
                  <a:cubicBezTo>
                    <a:pt x="1319709" y="0"/>
                    <a:pt x="1332724" y="13015"/>
                    <a:pt x="1332724" y="29069"/>
                  </a:cubicBezTo>
                  <a:lnTo>
                    <a:pt x="1332724" y="497195"/>
                  </a:lnTo>
                  <a:cubicBezTo>
                    <a:pt x="1332724" y="504904"/>
                    <a:pt x="1329661" y="512298"/>
                    <a:pt x="1324209" y="517750"/>
                  </a:cubicBezTo>
                  <a:cubicBezTo>
                    <a:pt x="1318758" y="523201"/>
                    <a:pt x="1311364" y="526264"/>
                    <a:pt x="1303654" y="526264"/>
                  </a:cubicBezTo>
                  <a:lnTo>
                    <a:pt x="29069" y="526264"/>
                  </a:lnTo>
                  <a:cubicBezTo>
                    <a:pt x="13015" y="526264"/>
                    <a:pt x="0" y="513249"/>
                    <a:pt x="0" y="497195"/>
                  </a:cubicBezTo>
                  <a:lnTo>
                    <a:pt x="0" y="29069"/>
                  </a:lnTo>
                  <a:cubicBezTo>
                    <a:pt x="0" y="13015"/>
                    <a:pt x="13015" y="0"/>
                    <a:pt x="29069" y="0"/>
                  </a:cubicBezTo>
                  <a:close/>
                </a:path>
              </a:pathLst>
            </a:custGeom>
            <a:solidFill>
              <a:srgbClr val="3A577B"/>
            </a:solidFill>
          </p:spPr>
        </p:sp>
        <p:sp>
          <p:nvSpPr>
            <p:cNvPr name="TextBox 19" id="19"/>
            <p:cNvSpPr txBox="true"/>
            <p:nvPr/>
          </p:nvSpPr>
          <p:spPr>
            <a:xfrm>
              <a:off x="0" y="-47625"/>
              <a:ext cx="1332724" cy="573889"/>
            </a:xfrm>
            <a:prstGeom prst="rect">
              <a:avLst/>
            </a:prstGeom>
          </p:spPr>
          <p:txBody>
            <a:bodyPr anchor="ctr" rtlCol="false" tIns="50800" lIns="50800" bIns="50800" rIns="50800"/>
            <a:lstStyle/>
            <a:p>
              <a:pPr algn="ctr">
                <a:lnSpc>
                  <a:spcPts val="2800"/>
                </a:lnSpc>
              </a:pPr>
            </a:p>
          </p:txBody>
        </p:sp>
      </p:grpSp>
      <p:sp>
        <p:nvSpPr>
          <p:cNvPr name="TextBox 20" id="20"/>
          <p:cNvSpPr txBox="true"/>
          <p:nvPr/>
        </p:nvSpPr>
        <p:spPr>
          <a:xfrm rot="0">
            <a:off x="5582049" y="406355"/>
            <a:ext cx="7881777" cy="943483"/>
          </a:xfrm>
          <a:prstGeom prst="rect">
            <a:avLst/>
          </a:prstGeom>
        </p:spPr>
        <p:txBody>
          <a:bodyPr anchor="t" rtlCol="false" tIns="0" lIns="0" bIns="0" rIns="0">
            <a:spAutoFit/>
          </a:bodyPr>
          <a:lstStyle/>
          <a:p>
            <a:pPr algn="ctr" marL="0" indent="0" lvl="0">
              <a:lnSpc>
                <a:spcPts val="6730"/>
              </a:lnSpc>
              <a:spcBef>
                <a:spcPct val="0"/>
              </a:spcBef>
            </a:pPr>
            <a:r>
              <a:rPr lang="en-US" b="true" sz="5299">
                <a:solidFill>
                  <a:srgbClr val="0E2F5F"/>
                </a:solidFill>
                <a:latin typeface="Akzidenz-Grotesk Heavy"/>
                <a:ea typeface="Akzidenz-Grotesk Heavy"/>
                <a:cs typeface="Akzidenz-Grotesk Heavy"/>
                <a:sym typeface="Akzidenz-Grotesk Heavy"/>
              </a:rPr>
              <a:t>LÝ DO CHỌN ĐỀ TÀI</a:t>
            </a:r>
          </a:p>
        </p:txBody>
      </p:sp>
      <p:sp>
        <p:nvSpPr>
          <p:cNvPr name="TextBox 21" id="21"/>
          <p:cNvSpPr txBox="true"/>
          <p:nvPr/>
        </p:nvSpPr>
        <p:spPr>
          <a:xfrm rot="0">
            <a:off x="7210310" y="1906684"/>
            <a:ext cx="3867379" cy="588268"/>
          </a:xfrm>
          <a:prstGeom prst="rect">
            <a:avLst/>
          </a:prstGeom>
        </p:spPr>
        <p:txBody>
          <a:bodyPr anchor="t" rtlCol="false" tIns="0" lIns="0" bIns="0" rIns="0">
            <a:spAutoFit/>
          </a:bodyPr>
          <a:lstStyle/>
          <a:p>
            <a:pPr algn="ctr">
              <a:lnSpc>
                <a:spcPts val="4826"/>
              </a:lnSpc>
            </a:pPr>
            <a:r>
              <a:rPr lang="en-US" sz="3447" b="true">
                <a:solidFill>
                  <a:srgbClr val="FFFFFF"/>
                </a:solidFill>
                <a:latin typeface="Aileron Heavy"/>
                <a:ea typeface="Aileron Heavy"/>
                <a:cs typeface="Aileron Heavy"/>
                <a:sym typeface="Aileron Heavy"/>
              </a:rPr>
              <a:t>Hướng giải quyết</a:t>
            </a:r>
          </a:p>
        </p:txBody>
      </p:sp>
      <p:sp>
        <p:nvSpPr>
          <p:cNvPr name="TextBox 22" id="22"/>
          <p:cNvSpPr txBox="true"/>
          <p:nvPr/>
        </p:nvSpPr>
        <p:spPr>
          <a:xfrm rot="0">
            <a:off x="12676070" y="2862138"/>
            <a:ext cx="4864151" cy="707389"/>
          </a:xfrm>
          <a:prstGeom prst="rect">
            <a:avLst/>
          </a:prstGeom>
        </p:spPr>
        <p:txBody>
          <a:bodyPr anchor="t" rtlCol="false" tIns="0" lIns="0" bIns="0" rIns="0">
            <a:spAutoFit/>
          </a:bodyPr>
          <a:lstStyle/>
          <a:p>
            <a:pPr algn="ctr">
              <a:lnSpc>
                <a:spcPts val="5859"/>
              </a:lnSpc>
            </a:pPr>
            <a:r>
              <a:rPr lang="en-US" sz="4185" b="true">
                <a:solidFill>
                  <a:srgbClr val="FFFFFF"/>
                </a:solidFill>
                <a:latin typeface="Aileron Heavy"/>
                <a:ea typeface="Aileron Heavy"/>
                <a:cs typeface="Aileron Heavy"/>
                <a:sym typeface="Aileron Heavy"/>
              </a:rPr>
              <a:t>Mong muốn</a:t>
            </a:r>
          </a:p>
        </p:txBody>
      </p:sp>
      <p:sp>
        <p:nvSpPr>
          <p:cNvPr name="TextBox 23" id="23"/>
          <p:cNvSpPr txBox="true"/>
          <p:nvPr/>
        </p:nvSpPr>
        <p:spPr>
          <a:xfrm rot="0">
            <a:off x="1732194" y="5171681"/>
            <a:ext cx="3288638" cy="1054098"/>
          </a:xfrm>
          <a:prstGeom prst="rect">
            <a:avLst/>
          </a:prstGeom>
        </p:spPr>
        <p:txBody>
          <a:bodyPr anchor="t" rtlCol="false" tIns="0" lIns="0" bIns="0" rIns="0">
            <a:spAutoFit/>
          </a:bodyPr>
          <a:lstStyle/>
          <a:p>
            <a:pPr algn="just">
              <a:lnSpc>
                <a:spcPts val="2800"/>
              </a:lnSpc>
            </a:pPr>
            <a:r>
              <a:rPr lang="en-US" sz="2000" b="true">
                <a:solidFill>
                  <a:srgbClr val="E1EDFC"/>
                </a:solidFill>
                <a:latin typeface="Aileron Bold"/>
                <a:ea typeface="Aileron Bold"/>
                <a:cs typeface="Aileron Bold"/>
                <a:sym typeface="Aileron Bold"/>
              </a:rPr>
              <a:t>Ngày nay nhu cầu học tập cao, công nghệ ngày càng hiện đại.</a:t>
            </a:r>
          </a:p>
        </p:txBody>
      </p:sp>
      <p:sp>
        <p:nvSpPr>
          <p:cNvPr name="TextBox 24" id="24"/>
          <p:cNvSpPr txBox="true"/>
          <p:nvPr/>
        </p:nvSpPr>
        <p:spPr>
          <a:xfrm rot="0">
            <a:off x="1643928" y="2964909"/>
            <a:ext cx="3376903" cy="604618"/>
          </a:xfrm>
          <a:prstGeom prst="rect">
            <a:avLst/>
          </a:prstGeom>
        </p:spPr>
        <p:txBody>
          <a:bodyPr anchor="t" rtlCol="false" tIns="0" lIns="0" bIns="0" rIns="0">
            <a:spAutoFit/>
          </a:bodyPr>
          <a:lstStyle/>
          <a:p>
            <a:pPr algn="ctr">
              <a:lnSpc>
                <a:spcPts val="5070"/>
              </a:lnSpc>
            </a:pPr>
            <a:r>
              <a:rPr lang="en-US" sz="3621" b="true">
                <a:solidFill>
                  <a:srgbClr val="FFFFFF"/>
                </a:solidFill>
                <a:latin typeface="Aileron Heavy"/>
                <a:ea typeface="Aileron Heavy"/>
                <a:cs typeface="Aileron Heavy"/>
                <a:sym typeface="Aileron Heavy"/>
              </a:rPr>
              <a:t>Vấn đề</a:t>
            </a:r>
          </a:p>
        </p:txBody>
      </p:sp>
      <p:sp>
        <p:nvSpPr>
          <p:cNvPr name="TextBox 25" id="25"/>
          <p:cNvSpPr txBox="true"/>
          <p:nvPr/>
        </p:nvSpPr>
        <p:spPr>
          <a:xfrm rot="0">
            <a:off x="7499681" y="4499526"/>
            <a:ext cx="3288638" cy="1406523"/>
          </a:xfrm>
          <a:prstGeom prst="rect">
            <a:avLst/>
          </a:prstGeom>
        </p:spPr>
        <p:txBody>
          <a:bodyPr anchor="t" rtlCol="false" tIns="0" lIns="0" bIns="0" rIns="0">
            <a:spAutoFit/>
          </a:bodyPr>
          <a:lstStyle/>
          <a:p>
            <a:pPr algn="just">
              <a:lnSpc>
                <a:spcPts val="2800"/>
              </a:lnSpc>
            </a:pPr>
            <a:r>
              <a:rPr lang="en-US" sz="2000">
                <a:solidFill>
                  <a:srgbClr val="E1EDFC"/>
                </a:solidFill>
                <a:latin typeface="Aileron"/>
                <a:ea typeface="Aileron"/>
                <a:cs typeface="Aileron"/>
                <a:sym typeface="Aileron"/>
              </a:rPr>
              <a:t>Cung cấp một ứng dụng có thể hổ trợ học tập rèn luyện và ôn tập kiến thức mọi lúc mọi nơi</a:t>
            </a:r>
          </a:p>
        </p:txBody>
      </p:sp>
      <p:sp>
        <p:nvSpPr>
          <p:cNvPr name="TextBox 26" id="26"/>
          <p:cNvSpPr txBox="true"/>
          <p:nvPr/>
        </p:nvSpPr>
        <p:spPr>
          <a:xfrm rot="0">
            <a:off x="13463827" y="4819256"/>
            <a:ext cx="3288638" cy="1406523"/>
          </a:xfrm>
          <a:prstGeom prst="rect">
            <a:avLst/>
          </a:prstGeom>
        </p:spPr>
        <p:txBody>
          <a:bodyPr anchor="t" rtlCol="false" tIns="0" lIns="0" bIns="0" rIns="0">
            <a:spAutoFit/>
          </a:bodyPr>
          <a:lstStyle/>
          <a:p>
            <a:pPr algn="just">
              <a:lnSpc>
                <a:spcPts val="2800"/>
              </a:lnSpc>
            </a:pPr>
            <a:r>
              <a:rPr lang="en-US" sz="2000" b="true">
                <a:solidFill>
                  <a:srgbClr val="E1EDFC"/>
                </a:solidFill>
                <a:latin typeface="Aileron Bold"/>
                <a:ea typeface="Aileron Bold"/>
                <a:cs typeface="Aileron Bold"/>
                <a:sym typeface="Aileron Bold"/>
              </a:rPr>
              <a:t>Hổ trợ được nhiều thứ cho (học sinh,sinh viên) vẫn còn quan ngại nhà xa trường, vấn đề xăng xe.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1226" y="3310951"/>
            <a:ext cx="3353620" cy="5894830"/>
            <a:chOff x="0" y="0"/>
            <a:chExt cx="883258" cy="1552548"/>
          </a:xfrm>
        </p:grpSpPr>
        <p:sp>
          <p:nvSpPr>
            <p:cNvPr name="Freeform 3" id="3"/>
            <p:cNvSpPr/>
            <p:nvPr/>
          </p:nvSpPr>
          <p:spPr>
            <a:xfrm flipH="false" flipV="false" rot="0">
              <a:off x="0" y="0"/>
              <a:ext cx="883258" cy="1552548"/>
            </a:xfrm>
            <a:custGeom>
              <a:avLst/>
              <a:gdLst/>
              <a:ahLst/>
              <a:cxnLst/>
              <a:rect r="r" b="b" t="t" l="l"/>
              <a:pathLst>
                <a:path h="1552548" w="883258">
                  <a:moveTo>
                    <a:pt x="136203" y="0"/>
                  </a:moveTo>
                  <a:lnTo>
                    <a:pt x="747055" y="0"/>
                  </a:lnTo>
                  <a:cubicBezTo>
                    <a:pt x="822278" y="0"/>
                    <a:pt x="883258" y="60980"/>
                    <a:pt x="883258" y="136203"/>
                  </a:cubicBezTo>
                  <a:lnTo>
                    <a:pt x="883258" y="1416345"/>
                  </a:lnTo>
                  <a:cubicBezTo>
                    <a:pt x="883258" y="1452468"/>
                    <a:pt x="868908" y="1487112"/>
                    <a:pt x="843365" y="1512655"/>
                  </a:cubicBezTo>
                  <a:cubicBezTo>
                    <a:pt x="817822" y="1538198"/>
                    <a:pt x="783178" y="1552548"/>
                    <a:pt x="747055" y="1552548"/>
                  </a:cubicBezTo>
                  <a:lnTo>
                    <a:pt x="136203" y="1552548"/>
                  </a:lnTo>
                  <a:cubicBezTo>
                    <a:pt x="100080" y="1552548"/>
                    <a:pt x="65436" y="1538198"/>
                    <a:pt x="39893" y="1512655"/>
                  </a:cubicBezTo>
                  <a:cubicBezTo>
                    <a:pt x="14350" y="1487112"/>
                    <a:pt x="0" y="1452468"/>
                    <a:pt x="0" y="1416345"/>
                  </a:cubicBezTo>
                  <a:lnTo>
                    <a:pt x="0" y="136203"/>
                  </a:lnTo>
                  <a:cubicBezTo>
                    <a:pt x="0" y="100080"/>
                    <a:pt x="14350" y="65436"/>
                    <a:pt x="39893" y="39893"/>
                  </a:cubicBezTo>
                  <a:cubicBezTo>
                    <a:pt x="65436" y="14350"/>
                    <a:pt x="100080" y="0"/>
                    <a:pt x="136203" y="0"/>
                  </a:cubicBezTo>
                  <a:close/>
                </a:path>
              </a:pathLst>
            </a:custGeom>
            <a:solidFill>
              <a:srgbClr val="E1EDFC"/>
            </a:solidFill>
            <a:ln cap="rnd">
              <a:noFill/>
              <a:prstDash val="solid"/>
              <a:round/>
            </a:ln>
          </p:spPr>
        </p:sp>
        <p:sp>
          <p:nvSpPr>
            <p:cNvPr name="TextBox 4" id="4"/>
            <p:cNvSpPr txBox="true"/>
            <p:nvPr/>
          </p:nvSpPr>
          <p:spPr>
            <a:xfrm>
              <a:off x="0" y="-47625"/>
              <a:ext cx="883258" cy="1600173"/>
            </a:xfrm>
            <a:prstGeom prst="rect">
              <a:avLst/>
            </a:prstGeom>
          </p:spPr>
          <p:txBody>
            <a:bodyPr anchor="ctr" rtlCol="false" tIns="50800" lIns="50800" bIns="50800" rIns="50800"/>
            <a:lstStyle/>
            <a:p>
              <a:pPr algn="ctr" marL="0" indent="0" lvl="0">
                <a:lnSpc>
                  <a:spcPts val="2800"/>
                </a:lnSpc>
                <a:spcBef>
                  <a:spcPct val="0"/>
                </a:spcBef>
              </a:pPr>
            </a:p>
          </p:txBody>
        </p:sp>
      </p:grpSp>
      <p:sp>
        <p:nvSpPr>
          <p:cNvPr name="TextBox 5" id="5"/>
          <p:cNvSpPr txBox="true"/>
          <p:nvPr/>
        </p:nvSpPr>
        <p:spPr>
          <a:xfrm rot="0">
            <a:off x="2958803" y="480314"/>
            <a:ext cx="7710675" cy="944372"/>
          </a:xfrm>
          <a:prstGeom prst="rect">
            <a:avLst/>
          </a:prstGeom>
        </p:spPr>
        <p:txBody>
          <a:bodyPr anchor="t" rtlCol="false" tIns="0" lIns="0" bIns="0" rIns="0">
            <a:spAutoFit/>
          </a:bodyPr>
          <a:lstStyle/>
          <a:p>
            <a:pPr algn="r" marL="0" indent="0" lvl="0">
              <a:lnSpc>
                <a:spcPts val="6603"/>
              </a:lnSpc>
              <a:spcBef>
                <a:spcPct val="0"/>
              </a:spcBef>
            </a:pPr>
            <a:r>
              <a:rPr lang="en-US" b="true" sz="5199">
                <a:solidFill>
                  <a:srgbClr val="0E2F5F"/>
                </a:solidFill>
                <a:latin typeface="Akzidenz-Grotesk Heavy"/>
                <a:ea typeface="Akzidenz-Grotesk Heavy"/>
                <a:cs typeface="Akzidenz-Grotesk Heavy"/>
                <a:sym typeface="Akzidenz-Grotesk Heavy"/>
              </a:rPr>
              <a:t>Phạm vi </a:t>
            </a:r>
          </a:p>
        </p:txBody>
      </p:sp>
      <p:sp>
        <p:nvSpPr>
          <p:cNvPr name="Freeform 6" id="6"/>
          <p:cNvSpPr/>
          <p:nvPr/>
        </p:nvSpPr>
        <p:spPr>
          <a:xfrm flipH="false" flipV="false" rot="0">
            <a:off x="14433492" y="-1845934"/>
            <a:ext cx="3691868" cy="3691868"/>
          </a:xfrm>
          <a:custGeom>
            <a:avLst/>
            <a:gdLst/>
            <a:ahLst/>
            <a:cxnLst/>
            <a:rect r="r" b="b" t="t" l="l"/>
            <a:pathLst>
              <a:path h="3691868" w="3691868">
                <a:moveTo>
                  <a:pt x="0" y="0"/>
                </a:moveTo>
                <a:lnTo>
                  <a:pt x="3691867" y="0"/>
                </a:lnTo>
                <a:lnTo>
                  <a:pt x="3691867" y="3691868"/>
                </a:lnTo>
                <a:lnTo>
                  <a:pt x="0" y="3691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396943" y="1028700"/>
            <a:ext cx="647477" cy="647477"/>
          </a:xfrm>
          <a:custGeom>
            <a:avLst/>
            <a:gdLst/>
            <a:ahLst/>
            <a:cxnLst/>
            <a:rect r="r" b="b" t="t" l="l"/>
            <a:pathLst>
              <a:path h="647477" w="647477">
                <a:moveTo>
                  <a:pt x="0" y="0"/>
                </a:moveTo>
                <a:lnTo>
                  <a:pt x="647477" y="0"/>
                </a:lnTo>
                <a:lnTo>
                  <a:pt x="647477" y="647477"/>
                </a:lnTo>
                <a:lnTo>
                  <a:pt x="0" y="6474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4671270" y="3624028"/>
            <a:ext cx="9762222" cy="1998158"/>
            <a:chOff x="0" y="0"/>
            <a:chExt cx="2571120" cy="526264"/>
          </a:xfrm>
        </p:grpSpPr>
        <p:sp>
          <p:nvSpPr>
            <p:cNvPr name="Freeform 9" id="9"/>
            <p:cNvSpPr/>
            <p:nvPr/>
          </p:nvSpPr>
          <p:spPr>
            <a:xfrm flipH="false" flipV="false" rot="0">
              <a:off x="0" y="0"/>
              <a:ext cx="2571120" cy="526264"/>
            </a:xfrm>
            <a:custGeom>
              <a:avLst/>
              <a:gdLst/>
              <a:ahLst/>
              <a:cxnLst/>
              <a:rect r="r" b="b" t="t" l="l"/>
              <a:pathLst>
                <a:path h="526264" w="2571120">
                  <a:moveTo>
                    <a:pt x="15068" y="0"/>
                  </a:moveTo>
                  <a:lnTo>
                    <a:pt x="2556052" y="0"/>
                  </a:lnTo>
                  <a:cubicBezTo>
                    <a:pt x="2560049" y="0"/>
                    <a:pt x="2563881" y="1588"/>
                    <a:pt x="2566707" y="4413"/>
                  </a:cubicBezTo>
                  <a:cubicBezTo>
                    <a:pt x="2569533" y="7239"/>
                    <a:pt x="2571120" y="11072"/>
                    <a:pt x="2571120" y="15068"/>
                  </a:cubicBezTo>
                  <a:lnTo>
                    <a:pt x="2571120" y="511196"/>
                  </a:lnTo>
                  <a:cubicBezTo>
                    <a:pt x="2571120" y="515192"/>
                    <a:pt x="2569533" y="519025"/>
                    <a:pt x="2566707" y="521851"/>
                  </a:cubicBezTo>
                  <a:cubicBezTo>
                    <a:pt x="2563881" y="524676"/>
                    <a:pt x="2560049" y="526264"/>
                    <a:pt x="2556052" y="526264"/>
                  </a:cubicBezTo>
                  <a:lnTo>
                    <a:pt x="15068" y="526264"/>
                  </a:lnTo>
                  <a:cubicBezTo>
                    <a:pt x="11072" y="526264"/>
                    <a:pt x="7239" y="524676"/>
                    <a:pt x="4413" y="521851"/>
                  </a:cubicBezTo>
                  <a:cubicBezTo>
                    <a:pt x="1588" y="519025"/>
                    <a:pt x="0" y="515192"/>
                    <a:pt x="0" y="511196"/>
                  </a:cubicBezTo>
                  <a:lnTo>
                    <a:pt x="0" y="15068"/>
                  </a:lnTo>
                  <a:cubicBezTo>
                    <a:pt x="0" y="11072"/>
                    <a:pt x="1588" y="7239"/>
                    <a:pt x="4413" y="4413"/>
                  </a:cubicBezTo>
                  <a:cubicBezTo>
                    <a:pt x="7239" y="1588"/>
                    <a:pt x="11072" y="0"/>
                    <a:pt x="15068" y="0"/>
                  </a:cubicBezTo>
                  <a:close/>
                </a:path>
              </a:pathLst>
            </a:custGeom>
            <a:solidFill>
              <a:srgbClr val="3A577B"/>
            </a:solidFill>
          </p:spPr>
        </p:sp>
        <p:sp>
          <p:nvSpPr>
            <p:cNvPr name="TextBox 10" id="10"/>
            <p:cNvSpPr txBox="true"/>
            <p:nvPr/>
          </p:nvSpPr>
          <p:spPr>
            <a:xfrm>
              <a:off x="0" y="-47625"/>
              <a:ext cx="2571120" cy="573889"/>
            </a:xfrm>
            <a:prstGeom prst="rect">
              <a:avLst/>
            </a:prstGeom>
          </p:spPr>
          <p:txBody>
            <a:bodyPr anchor="ctr" rtlCol="false" tIns="50800" lIns="50800" bIns="50800" rIns="50800"/>
            <a:lstStyle/>
            <a:p>
              <a:pPr algn="just">
                <a:lnSpc>
                  <a:spcPts val="2800"/>
                </a:lnSpc>
              </a:pPr>
              <a:r>
                <a:rPr lang="en-US" sz="2000" b="true">
                  <a:solidFill>
                    <a:srgbClr val="FFFFFF"/>
                  </a:solidFill>
                  <a:latin typeface="Aileron Bold"/>
                  <a:ea typeface="Aileron Bold"/>
                  <a:cs typeface="Aileron Bold"/>
                  <a:sym typeface="Aileron Bold"/>
                </a:rPr>
                <a:t>Phát triển ứng dụng Logic IQ trên nền tảng Android</a:t>
              </a:r>
            </a:p>
            <a:p>
              <a:pPr algn="just">
                <a:lnSpc>
                  <a:spcPts val="2800"/>
                </a:lnSpc>
              </a:pPr>
              <a:r>
                <a:rPr lang="en-US" sz="2000" b="true">
                  <a:solidFill>
                    <a:srgbClr val="FFFFFF"/>
                  </a:solidFill>
                  <a:latin typeface="Aileron Bold"/>
                  <a:ea typeface="Aileron Bold"/>
                  <a:cs typeface="Aileron Bold"/>
                  <a:sym typeface="Aileron Bold"/>
                </a:rPr>
                <a:t>Mục tiêu: giúp người dùng luyện tập tư duy logic qua bài test và flashcard</a:t>
              </a:r>
            </a:p>
            <a:p>
              <a:pPr algn="just">
                <a:lnSpc>
                  <a:spcPts val="2800"/>
                </a:lnSpc>
              </a:pPr>
              <a:r>
                <a:rPr lang="en-US" sz="2000" b="true">
                  <a:solidFill>
                    <a:srgbClr val="FFFFFF"/>
                  </a:solidFill>
                  <a:latin typeface="Aileron Bold"/>
                  <a:ea typeface="Aileron Bold"/>
                  <a:cs typeface="Aileron Bold"/>
                  <a:sym typeface="Aileron Bold"/>
                </a:rPr>
                <a:t>Công nghệ sử dụng: Kotlin, Jetpack Compose, Firebase</a:t>
              </a:r>
            </a:p>
            <a:p>
              <a:pPr algn="just">
                <a:lnSpc>
                  <a:spcPts val="2800"/>
                </a:lnSpc>
              </a:pPr>
              <a:r>
                <a:rPr lang="en-US" sz="2000" b="true">
                  <a:solidFill>
                    <a:srgbClr val="FFFFFF"/>
                  </a:solidFill>
                  <a:latin typeface="Aileron Bold"/>
                  <a:ea typeface="Aileron Bold"/>
                  <a:cs typeface="Aileron Bold"/>
                  <a:sym typeface="Aileron Bold"/>
                </a:rPr>
                <a:t>Kiến trúc ứng dụng: MVVM kết hợp Navigation Compose và Hilt</a:t>
              </a:r>
            </a:p>
            <a:p>
              <a:pPr algn="just">
                <a:lnSpc>
                  <a:spcPts val="2800"/>
                </a:lnSpc>
              </a:pPr>
            </a:p>
          </p:txBody>
        </p:sp>
      </p:grpSp>
      <p:grpSp>
        <p:nvGrpSpPr>
          <p:cNvPr name="Group 11" id="11"/>
          <p:cNvGrpSpPr/>
          <p:nvPr/>
        </p:nvGrpSpPr>
        <p:grpSpPr>
          <a:xfrm rot="0">
            <a:off x="3396943" y="1836538"/>
            <a:ext cx="11914379" cy="1151311"/>
            <a:chOff x="0" y="0"/>
            <a:chExt cx="3137943" cy="303226"/>
          </a:xfrm>
        </p:grpSpPr>
        <p:sp>
          <p:nvSpPr>
            <p:cNvPr name="Freeform 12" id="12"/>
            <p:cNvSpPr/>
            <p:nvPr/>
          </p:nvSpPr>
          <p:spPr>
            <a:xfrm flipH="false" flipV="false" rot="0">
              <a:off x="0" y="0"/>
              <a:ext cx="3137943" cy="303226"/>
            </a:xfrm>
            <a:custGeom>
              <a:avLst/>
              <a:gdLst/>
              <a:ahLst/>
              <a:cxnLst/>
              <a:rect r="r" b="b" t="t" l="l"/>
              <a:pathLst>
                <a:path h="303226" w="3137943">
                  <a:moveTo>
                    <a:pt x="33140" y="0"/>
                  </a:moveTo>
                  <a:lnTo>
                    <a:pt x="3104804" y="0"/>
                  </a:lnTo>
                  <a:cubicBezTo>
                    <a:pt x="3113593" y="0"/>
                    <a:pt x="3122022" y="3491"/>
                    <a:pt x="3128237" y="9706"/>
                  </a:cubicBezTo>
                  <a:cubicBezTo>
                    <a:pt x="3134452" y="15921"/>
                    <a:pt x="3137943" y="24350"/>
                    <a:pt x="3137943" y="33140"/>
                  </a:cubicBezTo>
                  <a:lnTo>
                    <a:pt x="3137943" y="270086"/>
                  </a:lnTo>
                  <a:cubicBezTo>
                    <a:pt x="3137943" y="288389"/>
                    <a:pt x="3123106" y="303226"/>
                    <a:pt x="3104804" y="303226"/>
                  </a:cubicBezTo>
                  <a:lnTo>
                    <a:pt x="33140" y="303226"/>
                  </a:lnTo>
                  <a:cubicBezTo>
                    <a:pt x="24350" y="303226"/>
                    <a:pt x="15921" y="299734"/>
                    <a:pt x="9706" y="293520"/>
                  </a:cubicBezTo>
                  <a:cubicBezTo>
                    <a:pt x="3491" y="287305"/>
                    <a:pt x="0" y="278875"/>
                    <a:pt x="0" y="270086"/>
                  </a:cubicBezTo>
                  <a:lnTo>
                    <a:pt x="0" y="33140"/>
                  </a:lnTo>
                  <a:cubicBezTo>
                    <a:pt x="0" y="24350"/>
                    <a:pt x="3491" y="15921"/>
                    <a:pt x="9706" y="9706"/>
                  </a:cubicBezTo>
                  <a:cubicBezTo>
                    <a:pt x="15921" y="3491"/>
                    <a:pt x="24350" y="0"/>
                    <a:pt x="33140" y="0"/>
                  </a:cubicBezTo>
                  <a:close/>
                </a:path>
              </a:pathLst>
            </a:custGeom>
            <a:solidFill>
              <a:srgbClr val="5188CC"/>
            </a:solidFill>
          </p:spPr>
        </p:sp>
        <p:sp>
          <p:nvSpPr>
            <p:cNvPr name="TextBox 13" id="13"/>
            <p:cNvSpPr txBox="true"/>
            <p:nvPr/>
          </p:nvSpPr>
          <p:spPr>
            <a:xfrm>
              <a:off x="0" y="-47625"/>
              <a:ext cx="3137943" cy="350851"/>
            </a:xfrm>
            <a:prstGeom prst="rect">
              <a:avLst/>
            </a:prstGeom>
          </p:spPr>
          <p:txBody>
            <a:bodyPr anchor="ctr" rtlCol="false" tIns="50800" lIns="50800" bIns="50800" rIns="50800"/>
            <a:lstStyle/>
            <a:p>
              <a:pPr algn="l">
                <a:lnSpc>
                  <a:spcPts val="2800"/>
                </a:lnSpc>
              </a:pPr>
              <a:r>
                <a:rPr lang="en-US" sz="2000" b="true">
                  <a:solidFill>
                    <a:srgbClr val="000000"/>
                  </a:solidFill>
                  <a:latin typeface="Aileron Bold"/>
                  <a:ea typeface="Aileron Bold"/>
                  <a:cs typeface="Aileron Bold"/>
                  <a:sym typeface="Aileron Bold"/>
                </a:rPr>
                <a:t>Đối tượng người dùng: Học sinh, sinh viên và những người yêu thích rèn luyện tư duy</a:t>
              </a:r>
              <a:r>
                <a:rPr lang="en-US" sz="2000" b="true">
                  <a:solidFill>
                    <a:srgbClr val="000000"/>
                  </a:solidFill>
                  <a:latin typeface="Aileron Bold"/>
                  <a:ea typeface="Aileron Bold"/>
                  <a:cs typeface="Aileron Bold"/>
                  <a:sym typeface="Aileron Bold"/>
                </a:rPr>
                <a:t> </a:t>
              </a:r>
            </a:p>
          </p:txBody>
        </p:sp>
      </p:grpSp>
      <p:grpSp>
        <p:nvGrpSpPr>
          <p:cNvPr name="Group 14" id="14"/>
          <p:cNvGrpSpPr/>
          <p:nvPr/>
        </p:nvGrpSpPr>
        <p:grpSpPr>
          <a:xfrm rot="0">
            <a:off x="5167964" y="6260362"/>
            <a:ext cx="8768834" cy="1689104"/>
            <a:chOff x="0" y="0"/>
            <a:chExt cx="2309487" cy="444867"/>
          </a:xfrm>
        </p:grpSpPr>
        <p:sp>
          <p:nvSpPr>
            <p:cNvPr name="Freeform 15" id="15"/>
            <p:cNvSpPr/>
            <p:nvPr/>
          </p:nvSpPr>
          <p:spPr>
            <a:xfrm flipH="false" flipV="false" rot="0">
              <a:off x="0" y="0"/>
              <a:ext cx="2309487" cy="444867"/>
            </a:xfrm>
            <a:custGeom>
              <a:avLst/>
              <a:gdLst/>
              <a:ahLst/>
              <a:cxnLst/>
              <a:rect r="r" b="b" t="t" l="l"/>
              <a:pathLst>
                <a:path h="444867" w="2309487">
                  <a:moveTo>
                    <a:pt x="16775" y="0"/>
                  </a:moveTo>
                  <a:lnTo>
                    <a:pt x="2292712" y="0"/>
                  </a:lnTo>
                  <a:cubicBezTo>
                    <a:pt x="2301977" y="0"/>
                    <a:pt x="2309487" y="7510"/>
                    <a:pt x="2309487" y="16775"/>
                  </a:cubicBezTo>
                  <a:lnTo>
                    <a:pt x="2309487" y="428092"/>
                  </a:lnTo>
                  <a:cubicBezTo>
                    <a:pt x="2309487" y="432541"/>
                    <a:pt x="2307720" y="436808"/>
                    <a:pt x="2304574" y="439954"/>
                  </a:cubicBezTo>
                  <a:cubicBezTo>
                    <a:pt x="2301428" y="443100"/>
                    <a:pt x="2297161" y="444867"/>
                    <a:pt x="2292712" y="444867"/>
                  </a:cubicBezTo>
                  <a:lnTo>
                    <a:pt x="16775" y="444867"/>
                  </a:lnTo>
                  <a:cubicBezTo>
                    <a:pt x="12326" y="444867"/>
                    <a:pt x="8059" y="443100"/>
                    <a:pt x="4913" y="439954"/>
                  </a:cubicBezTo>
                  <a:cubicBezTo>
                    <a:pt x="1767" y="436808"/>
                    <a:pt x="0" y="432541"/>
                    <a:pt x="0" y="428092"/>
                  </a:cubicBezTo>
                  <a:lnTo>
                    <a:pt x="0" y="16775"/>
                  </a:lnTo>
                  <a:cubicBezTo>
                    <a:pt x="0" y="12326"/>
                    <a:pt x="1767" y="8059"/>
                    <a:pt x="4913" y="4913"/>
                  </a:cubicBezTo>
                  <a:cubicBezTo>
                    <a:pt x="8059" y="1767"/>
                    <a:pt x="12326" y="0"/>
                    <a:pt x="16775" y="0"/>
                  </a:cubicBezTo>
                  <a:close/>
                </a:path>
              </a:pathLst>
            </a:custGeom>
            <a:solidFill>
              <a:srgbClr val="3A577B"/>
            </a:solidFill>
          </p:spPr>
        </p:sp>
        <p:sp>
          <p:nvSpPr>
            <p:cNvPr name="TextBox 16" id="16"/>
            <p:cNvSpPr txBox="true"/>
            <p:nvPr/>
          </p:nvSpPr>
          <p:spPr>
            <a:xfrm>
              <a:off x="0" y="-47625"/>
              <a:ext cx="2309487" cy="492492"/>
            </a:xfrm>
            <a:prstGeom prst="rect">
              <a:avLst/>
            </a:prstGeom>
          </p:spPr>
          <p:txBody>
            <a:bodyPr anchor="ctr" rtlCol="false" tIns="50800" lIns="50800" bIns="50800" rIns="50800"/>
            <a:lstStyle/>
            <a:p>
              <a:pPr algn="l">
                <a:lnSpc>
                  <a:spcPts val="2800"/>
                </a:lnSpc>
              </a:pPr>
              <a:r>
                <a:rPr lang="en-US" sz="2000" b="true">
                  <a:solidFill>
                    <a:srgbClr val="FFFFFF"/>
                  </a:solidFill>
                  <a:latin typeface="Aileron Bold"/>
                  <a:ea typeface="Aileron Bold"/>
                  <a:cs typeface="Aileron Bold"/>
                  <a:sym typeface="Aileron Bold"/>
                </a:rPr>
                <a:t>Ứng dụng chỉ hỗ trợ trên Android, chưa có phiên bản iOS/web</a:t>
              </a:r>
            </a:p>
            <a:p>
              <a:pPr algn="l">
                <a:lnSpc>
                  <a:spcPts val="2800"/>
                </a:lnSpc>
              </a:pPr>
              <a:r>
                <a:rPr lang="en-US" sz="2000" b="true">
                  <a:solidFill>
                    <a:srgbClr val="FFFFFF"/>
                  </a:solidFill>
                  <a:latin typeface="Aileron Bold"/>
                  <a:ea typeface="Aileron Bold"/>
                  <a:cs typeface="Aileron Bold"/>
                  <a:sym typeface="Aileron Bold"/>
                </a:rPr>
                <a:t>Chưa hỗ trợ tạo câu hỏi tùy chọn từ người dùng</a:t>
              </a:r>
            </a:p>
            <a:p>
              <a:pPr algn="l">
                <a:lnSpc>
                  <a:spcPts val="2800"/>
                </a:lnSpc>
              </a:pPr>
              <a:r>
                <a:rPr lang="en-US" sz="2000" b="true">
                  <a:solidFill>
                    <a:srgbClr val="FFFFFF"/>
                  </a:solidFill>
                  <a:latin typeface="Aileron Bold"/>
                  <a:ea typeface="Aileron Bold"/>
                  <a:cs typeface="Aileron Bold"/>
                  <a:sym typeface="Aileron Bold"/>
                </a:rPr>
                <a:t>Bộ câu hỏi còn giới hạn, chưa có nội dung phong phú theo chủ đề</a:t>
              </a:r>
            </a:p>
            <a:p>
              <a:pPr algn="l">
                <a:lnSpc>
                  <a:spcPts val="2800"/>
                </a:lnSpc>
              </a:pPr>
            </a:p>
          </p:txBody>
        </p:sp>
      </p:grpSp>
      <p:sp>
        <p:nvSpPr>
          <p:cNvPr name="Freeform 17" id="17"/>
          <p:cNvSpPr/>
          <p:nvPr/>
        </p:nvSpPr>
        <p:spPr>
          <a:xfrm flipH="false" flipV="false" rot="0">
            <a:off x="3122273" y="8476067"/>
            <a:ext cx="3691868" cy="3691868"/>
          </a:xfrm>
          <a:custGeom>
            <a:avLst/>
            <a:gdLst/>
            <a:ahLst/>
            <a:cxnLst/>
            <a:rect r="r" b="b" t="t" l="l"/>
            <a:pathLst>
              <a:path h="3691868" w="3691868">
                <a:moveTo>
                  <a:pt x="0" y="0"/>
                </a:moveTo>
                <a:lnTo>
                  <a:pt x="3691868" y="0"/>
                </a:lnTo>
                <a:lnTo>
                  <a:pt x="3691868" y="3691868"/>
                </a:lnTo>
                <a:lnTo>
                  <a:pt x="0" y="3691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089175" y="188764"/>
            <a:ext cx="7838517" cy="944372"/>
          </a:xfrm>
          <a:prstGeom prst="rect">
            <a:avLst/>
          </a:prstGeom>
        </p:spPr>
        <p:txBody>
          <a:bodyPr anchor="t" rtlCol="false" tIns="0" lIns="0" bIns="0" rIns="0">
            <a:spAutoFit/>
          </a:bodyPr>
          <a:lstStyle/>
          <a:p>
            <a:pPr algn="r" marL="0" indent="0" lvl="0">
              <a:lnSpc>
                <a:spcPts val="6603"/>
              </a:lnSpc>
              <a:spcBef>
                <a:spcPct val="0"/>
              </a:spcBef>
            </a:pPr>
            <a:r>
              <a:rPr lang="en-US" b="true" sz="5199">
                <a:solidFill>
                  <a:srgbClr val="0E2F5F"/>
                </a:solidFill>
                <a:latin typeface="Akzidenz-Grotesk Heavy"/>
                <a:ea typeface="Akzidenz-Grotesk Heavy"/>
                <a:cs typeface="Akzidenz-Grotesk Heavy"/>
                <a:sym typeface="Akzidenz-Grotesk Heavy"/>
              </a:rPr>
              <a:t>Phương pháp </a:t>
            </a:r>
          </a:p>
        </p:txBody>
      </p:sp>
      <p:sp>
        <p:nvSpPr>
          <p:cNvPr name="TextBox 3" id="3"/>
          <p:cNvSpPr txBox="true"/>
          <p:nvPr/>
        </p:nvSpPr>
        <p:spPr>
          <a:xfrm rot="0">
            <a:off x="5160321" y="5074525"/>
            <a:ext cx="3191556" cy="372644"/>
          </a:xfrm>
          <a:prstGeom prst="rect">
            <a:avLst/>
          </a:prstGeom>
        </p:spPr>
        <p:txBody>
          <a:bodyPr anchor="t" rtlCol="false" tIns="0" lIns="0" bIns="0" rIns="0">
            <a:spAutoFit/>
          </a:bodyPr>
          <a:lstStyle/>
          <a:p>
            <a:pPr algn="ctr">
              <a:lnSpc>
                <a:spcPts val="3080"/>
              </a:lnSpc>
            </a:pPr>
            <a:r>
              <a:rPr lang="en-US" sz="2200" b="true">
                <a:solidFill>
                  <a:srgbClr val="FFFFFF"/>
                </a:solidFill>
                <a:latin typeface="Aileron Heavy"/>
                <a:ea typeface="Aileron Heavy"/>
                <a:cs typeface="Aileron Heavy"/>
                <a:sym typeface="Aileron Heavy"/>
              </a:rPr>
              <a:t>Impact on Fisheries</a:t>
            </a:r>
          </a:p>
        </p:txBody>
      </p:sp>
      <p:grpSp>
        <p:nvGrpSpPr>
          <p:cNvPr name="Group 4" id="4"/>
          <p:cNvGrpSpPr/>
          <p:nvPr/>
        </p:nvGrpSpPr>
        <p:grpSpPr>
          <a:xfrm rot="0">
            <a:off x="0" y="-27349"/>
            <a:ext cx="3176441" cy="10287000"/>
            <a:chOff x="0" y="0"/>
            <a:chExt cx="492114" cy="1593725"/>
          </a:xfrm>
        </p:grpSpPr>
        <p:sp>
          <p:nvSpPr>
            <p:cNvPr name="Freeform 5" id="5"/>
            <p:cNvSpPr/>
            <p:nvPr/>
          </p:nvSpPr>
          <p:spPr>
            <a:xfrm flipH="false" flipV="false" rot="0">
              <a:off x="0" y="0"/>
              <a:ext cx="492114" cy="1593725"/>
            </a:xfrm>
            <a:custGeom>
              <a:avLst/>
              <a:gdLst/>
              <a:ahLst/>
              <a:cxnLst/>
              <a:rect r="r" b="b" t="t" l="l"/>
              <a:pathLst>
                <a:path h="1593725" w="492114">
                  <a:moveTo>
                    <a:pt x="0" y="0"/>
                  </a:moveTo>
                  <a:lnTo>
                    <a:pt x="492114" y="0"/>
                  </a:lnTo>
                  <a:lnTo>
                    <a:pt x="492114" y="1593725"/>
                  </a:lnTo>
                  <a:lnTo>
                    <a:pt x="0" y="1593725"/>
                  </a:lnTo>
                  <a:close/>
                </a:path>
              </a:pathLst>
            </a:custGeom>
            <a:blipFill>
              <a:blip r:embed="rId2"/>
              <a:stretch>
                <a:fillRect l="-508174" t="0" r="0" b="0"/>
              </a:stretch>
            </a:blipFill>
          </p:spPr>
        </p:sp>
      </p:grpSp>
      <p:sp>
        <p:nvSpPr>
          <p:cNvPr name="Freeform 6" id="6"/>
          <p:cNvSpPr/>
          <p:nvPr/>
        </p:nvSpPr>
        <p:spPr>
          <a:xfrm flipH="false" flipV="false" rot="0">
            <a:off x="4243241" y="-1845934"/>
            <a:ext cx="3691868" cy="3691868"/>
          </a:xfrm>
          <a:custGeom>
            <a:avLst/>
            <a:gdLst/>
            <a:ahLst/>
            <a:cxnLst/>
            <a:rect r="r" b="b" t="t" l="l"/>
            <a:pathLst>
              <a:path h="3691868" w="3691868">
                <a:moveTo>
                  <a:pt x="0" y="0"/>
                </a:moveTo>
                <a:lnTo>
                  <a:pt x="3691868" y="0"/>
                </a:lnTo>
                <a:lnTo>
                  <a:pt x="3691868" y="3691868"/>
                </a:lnTo>
                <a:lnTo>
                  <a:pt x="0" y="36918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4243241" y="3114248"/>
            <a:ext cx="13452331" cy="5490376"/>
            <a:chOff x="0" y="0"/>
            <a:chExt cx="3543001" cy="1446025"/>
          </a:xfrm>
        </p:grpSpPr>
        <p:sp>
          <p:nvSpPr>
            <p:cNvPr name="Freeform 8" id="8"/>
            <p:cNvSpPr/>
            <p:nvPr/>
          </p:nvSpPr>
          <p:spPr>
            <a:xfrm flipH="false" flipV="false" rot="0">
              <a:off x="0" y="0"/>
              <a:ext cx="3543001" cy="1446025"/>
            </a:xfrm>
            <a:custGeom>
              <a:avLst/>
              <a:gdLst/>
              <a:ahLst/>
              <a:cxnLst/>
              <a:rect r="r" b="b" t="t" l="l"/>
              <a:pathLst>
                <a:path h="1446025" w="3543001">
                  <a:moveTo>
                    <a:pt x="10935" y="0"/>
                  </a:moveTo>
                  <a:lnTo>
                    <a:pt x="3532066" y="0"/>
                  </a:lnTo>
                  <a:cubicBezTo>
                    <a:pt x="3538105" y="0"/>
                    <a:pt x="3543001" y="4896"/>
                    <a:pt x="3543001" y="10935"/>
                  </a:cubicBezTo>
                  <a:lnTo>
                    <a:pt x="3543001" y="1435090"/>
                  </a:lnTo>
                  <a:cubicBezTo>
                    <a:pt x="3543001" y="1441129"/>
                    <a:pt x="3538105" y="1446025"/>
                    <a:pt x="3532066" y="1446025"/>
                  </a:cubicBezTo>
                  <a:lnTo>
                    <a:pt x="10935" y="1446025"/>
                  </a:lnTo>
                  <a:cubicBezTo>
                    <a:pt x="4896" y="1446025"/>
                    <a:pt x="0" y="1441129"/>
                    <a:pt x="0" y="1435090"/>
                  </a:cubicBezTo>
                  <a:lnTo>
                    <a:pt x="0" y="10935"/>
                  </a:lnTo>
                  <a:cubicBezTo>
                    <a:pt x="0" y="4896"/>
                    <a:pt x="4896" y="0"/>
                    <a:pt x="10935" y="0"/>
                  </a:cubicBezTo>
                  <a:close/>
                </a:path>
              </a:pathLst>
            </a:custGeom>
            <a:solidFill>
              <a:srgbClr val="5188CC"/>
            </a:solidFill>
          </p:spPr>
        </p:sp>
        <p:sp>
          <p:nvSpPr>
            <p:cNvPr name="TextBox 9" id="9"/>
            <p:cNvSpPr txBox="true"/>
            <p:nvPr/>
          </p:nvSpPr>
          <p:spPr>
            <a:xfrm>
              <a:off x="0" y="-47625"/>
              <a:ext cx="3543001" cy="1493650"/>
            </a:xfrm>
            <a:prstGeom prst="rect">
              <a:avLst/>
            </a:prstGeom>
          </p:spPr>
          <p:txBody>
            <a:bodyPr anchor="ctr" rtlCol="false" tIns="50800" lIns="50800" bIns="50800" rIns="50800"/>
            <a:lstStyle/>
            <a:p>
              <a:pPr algn="l" marL="431817" indent="-215908" lvl="1">
                <a:lnSpc>
                  <a:spcPts val="2800"/>
                </a:lnSpc>
                <a:buFont typeface="Arial"/>
                <a:buChar char="•"/>
              </a:pPr>
              <a:r>
                <a:rPr lang="en-US" b="true" sz="2000">
                  <a:solidFill>
                    <a:srgbClr val="FFFFFF"/>
                  </a:solidFill>
                  <a:latin typeface="Aileron Bold"/>
                  <a:ea typeface="Aileron Bold"/>
                  <a:cs typeface="Aileron Bold"/>
                  <a:sym typeface="Aileron Bold"/>
                </a:rPr>
                <a:t>Phân tích và thiết kế hệ thống bằng UML, DFD, MVVM</a:t>
              </a:r>
            </a:p>
            <a:p>
              <a:pPr algn="l" marL="431817" indent="-215908" lvl="1">
                <a:lnSpc>
                  <a:spcPts val="2800"/>
                </a:lnSpc>
                <a:buFont typeface="Arial"/>
                <a:buChar char="•"/>
              </a:pPr>
              <a:r>
                <a:rPr lang="en-US" b="true" sz="2000">
                  <a:solidFill>
                    <a:srgbClr val="FFFFFF"/>
                  </a:solidFill>
                  <a:latin typeface="Aileron Bold"/>
                  <a:ea typeface="Aileron Bold"/>
                  <a:cs typeface="Aileron Bold"/>
                  <a:sym typeface="Aileron Bold"/>
                </a:rPr>
                <a:t>Thiết kế giao diện bằng Figma, triển khai bằng Jetpack Compose</a:t>
              </a:r>
            </a:p>
            <a:p>
              <a:pPr algn="l" marL="431817" indent="-215908" lvl="1">
                <a:lnSpc>
                  <a:spcPts val="2800"/>
                </a:lnSpc>
                <a:buFont typeface="Arial"/>
                <a:buChar char="•"/>
              </a:pPr>
              <a:r>
                <a:rPr lang="en-US" b="true" sz="2000">
                  <a:solidFill>
                    <a:srgbClr val="FFFFFF"/>
                  </a:solidFill>
                  <a:latin typeface="Aileron Bold"/>
                  <a:ea typeface="Aileron Bold"/>
                  <a:cs typeface="Aileron Bold"/>
                  <a:sym typeface="Aileron Bold"/>
                </a:rPr>
                <a:t>Cài đặt và thử nghiệm trên thiết bị Android thực tế</a:t>
              </a:r>
            </a:p>
            <a:p>
              <a:pPr algn="l" marL="431817" indent="-215908" lvl="1">
                <a:lnSpc>
                  <a:spcPts val="2800"/>
                </a:lnSpc>
                <a:buFont typeface="Arial"/>
                <a:buChar char="•"/>
              </a:pPr>
              <a:r>
                <a:rPr lang="en-US" b="true" sz="2000">
                  <a:solidFill>
                    <a:srgbClr val="FFFFFF"/>
                  </a:solidFill>
                  <a:latin typeface="Aileron Bold"/>
                  <a:ea typeface="Aileron Bold"/>
                  <a:cs typeface="Aileron Bold"/>
                  <a:sym typeface="Aileron Bold"/>
                </a:rPr>
                <a:t>Tìm hiểu công nghệ: Firebase, Jetpack Compose, Kotlin</a:t>
              </a:r>
            </a:p>
            <a:p>
              <a:pPr algn="l">
                <a:lnSpc>
                  <a:spcPts val="2800"/>
                </a:lnSpc>
              </a:pPr>
            </a:p>
            <a:p>
              <a:pPr algn="just">
                <a:lnSpc>
                  <a:spcPts val="2800"/>
                </a:lnSpc>
              </a:pPr>
              <a:r>
                <a:rPr lang="en-US" sz="2000" b="true">
                  <a:solidFill>
                    <a:srgbClr val="FFFFFF"/>
                  </a:solidFill>
                  <a:latin typeface="Aileron Bold"/>
                  <a:ea typeface="Aileron Bold"/>
                  <a:cs typeface="Aileron Bold"/>
                  <a:sym typeface="Aileron Bold"/>
                </a:rPr>
                <a:t>Cài đặt và phát triển ứng dụng:</a:t>
              </a:r>
            </a:p>
            <a:p>
              <a:pPr algn="l">
                <a:lnSpc>
                  <a:spcPts val="2800"/>
                </a:lnSpc>
              </a:pPr>
              <a:r>
                <a:rPr lang="en-US" sz="2000" b="true">
                  <a:solidFill>
                    <a:srgbClr val="FFFFFF"/>
                  </a:solidFill>
                  <a:latin typeface="Aileron Bold"/>
                  <a:ea typeface="Aileron Bold"/>
                  <a:cs typeface="Aileron Bold"/>
                  <a:sym typeface="Aileron Bold"/>
                </a:rPr>
                <a:t>Sử dụng Android Studio làm môi trường phát triển chính</a:t>
              </a:r>
            </a:p>
            <a:p>
              <a:pPr algn="l">
                <a:lnSpc>
                  <a:spcPts val="2800"/>
                </a:lnSpc>
              </a:pPr>
              <a:r>
                <a:rPr lang="en-US" sz="2000" b="true">
                  <a:solidFill>
                    <a:srgbClr val="FFFFFF"/>
                  </a:solidFill>
                  <a:latin typeface="Aileron Bold"/>
                  <a:ea typeface="Aileron Bold"/>
                  <a:cs typeface="Aileron Bold"/>
                  <a:sym typeface="Aileron Bold"/>
                </a:rPr>
                <a:t>Lập trình bằng Kotlin</a:t>
              </a:r>
            </a:p>
            <a:p>
              <a:pPr algn="l">
                <a:lnSpc>
                  <a:spcPts val="2800"/>
                </a:lnSpc>
              </a:pPr>
              <a:r>
                <a:rPr lang="en-US" sz="2000" b="true">
                  <a:solidFill>
                    <a:srgbClr val="FFFFFF"/>
                  </a:solidFill>
                  <a:latin typeface="Aileron Bold"/>
                  <a:ea typeface="Aileron Bold"/>
                  <a:cs typeface="Aileron Bold"/>
                  <a:sym typeface="Aileron Bold"/>
                </a:rPr>
                <a:t>Kết nối cơ sở dữ liệu bằng Firebase (Auth, Firestore, Storage)</a:t>
              </a:r>
            </a:p>
            <a:p>
              <a:pPr algn="l">
                <a:lnSpc>
                  <a:spcPts val="2800"/>
                </a:lnSpc>
              </a:pPr>
              <a:r>
                <a:rPr lang="en-US" sz="2000" b="true">
                  <a:solidFill>
                    <a:srgbClr val="FFFFFF"/>
                  </a:solidFill>
                  <a:latin typeface="Aileron Bold"/>
                  <a:ea typeface="Aileron Bold"/>
                  <a:cs typeface="Aileron Bold"/>
                  <a:sym typeface="Aileron Bold"/>
                </a:rPr>
                <a:t>Áp dụng các thư viện hỗ trợ:</a:t>
              </a:r>
            </a:p>
            <a:p>
              <a:pPr algn="l" marL="431817" indent="-215908" lvl="1">
                <a:lnSpc>
                  <a:spcPts val="2800"/>
                </a:lnSpc>
                <a:buFont typeface="Arial"/>
                <a:buChar char="•"/>
              </a:pPr>
              <a:r>
                <a:rPr lang="en-US" sz="2000">
                  <a:solidFill>
                    <a:srgbClr val="FFFFFF"/>
                  </a:solidFill>
                  <a:latin typeface="Aileron"/>
                  <a:ea typeface="Aileron"/>
                  <a:cs typeface="Aileron"/>
                  <a:sym typeface="Aileron"/>
                </a:rPr>
                <a:t>Hilt: quản lý dependency</a:t>
              </a:r>
            </a:p>
            <a:p>
              <a:pPr algn="l" marL="431817" indent="-215908" lvl="1">
                <a:lnSpc>
                  <a:spcPts val="2800"/>
                </a:lnSpc>
                <a:buFont typeface="Arial"/>
                <a:buChar char="•"/>
              </a:pPr>
              <a:r>
                <a:rPr lang="en-US" sz="2000">
                  <a:solidFill>
                    <a:srgbClr val="FFFFFF"/>
                  </a:solidFill>
                  <a:latin typeface="Aileron"/>
                  <a:ea typeface="Aileron"/>
                  <a:cs typeface="Aileron"/>
                  <a:sym typeface="Aileron"/>
                </a:rPr>
                <a:t>Navigation Compose: điều hướng giữa các màn hình</a:t>
              </a:r>
            </a:p>
            <a:p>
              <a:pPr algn="l" marL="431817" indent="-215908" lvl="1">
                <a:lnSpc>
                  <a:spcPts val="2800"/>
                </a:lnSpc>
                <a:buFont typeface="Arial"/>
                <a:buChar char="•"/>
              </a:pPr>
              <a:r>
                <a:rPr lang="en-US" sz="2000">
                  <a:solidFill>
                    <a:srgbClr val="FFFFFF"/>
                  </a:solidFill>
                  <a:latin typeface="Aileron"/>
                  <a:ea typeface="Aileron"/>
                  <a:cs typeface="Aileron"/>
                  <a:sym typeface="Aileron"/>
                </a:rPr>
                <a:t>ViewModel + StateFlow: xử lý và theo dõi dữ liệu UI</a:t>
              </a:r>
            </a:p>
            <a:p>
              <a:pPr algn="l" marL="431817" indent="-215908" lvl="1">
                <a:lnSpc>
                  <a:spcPts val="2800"/>
                </a:lnSpc>
                <a:buFont typeface="Arial"/>
                <a:buChar char="•"/>
              </a:pPr>
              <a:r>
                <a:rPr lang="en-US" sz="2000">
                  <a:solidFill>
                    <a:srgbClr val="FFFFFF"/>
                  </a:solidFill>
                  <a:latin typeface="Aileron"/>
                  <a:ea typeface="Aileron"/>
                  <a:cs typeface="Aileron"/>
                  <a:sym typeface="Aileron"/>
                </a:rPr>
                <a:t>Coil: tải và hiển thị hình ảnh</a:t>
              </a:r>
            </a:p>
            <a:p>
              <a:pPr algn="l">
                <a:lnSpc>
                  <a:spcPts val="2800"/>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06969" y="2877141"/>
            <a:ext cx="13452331" cy="5490376"/>
            <a:chOff x="0" y="0"/>
            <a:chExt cx="3543001" cy="1446025"/>
          </a:xfrm>
        </p:grpSpPr>
        <p:sp>
          <p:nvSpPr>
            <p:cNvPr name="Freeform 3" id="3"/>
            <p:cNvSpPr/>
            <p:nvPr/>
          </p:nvSpPr>
          <p:spPr>
            <a:xfrm flipH="false" flipV="false" rot="0">
              <a:off x="0" y="0"/>
              <a:ext cx="3543001" cy="1446025"/>
            </a:xfrm>
            <a:custGeom>
              <a:avLst/>
              <a:gdLst/>
              <a:ahLst/>
              <a:cxnLst/>
              <a:rect r="r" b="b" t="t" l="l"/>
              <a:pathLst>
                <a:path h="1446025" w="3543001">
                  <a:moveTo>
                    <a:pt x="10935" y="0"/>
                  </a:moveTo>
                  <a:lnTo>
                    <a:pt x="3532066" y="0"/>
                  </a:lnTo>
                  <a:cubicBezTo>
                    <a:pt x="3538105" y="0"/>
                    <a:pt x="3543001" y="4896"/>
                    <a:pt x="3543001" y="10935"/>
                  </a:cubicBezTo>
                  <a:lnTo>
                    <a:pt x="3543001" y="1435090"/>
                  </a:lnTo>
                  <a:cubicBezTo>
                    <a:pt x="3543001" y="1441129"/>
                    <a:pt x="3538105" y="1446025"/>
                    <a:pt x="3532066" y="1446025"/>
                  </a:cubicBezTo>
                  <a:lnTo>
                    <a:pt x="10935" y="1446025"/>
                  </a:lnTo>
                  <a:cubicBezTo>
                    <a:pt x="4896" y="1446025"/>
                    <a:pt x="0" y="1441129"/>
                    <a:pt x="0" y="1435090"/>
                  </a:cubicBezTo>
                  <a:lnTo>
                    <a:pt x="0" y="10935"/>
                  </a:lnTo>
                  <a:cubicBezTo>
                    <a:pt x="0" y="4896"/>
                    <a:pt x="4896" y="0"/>
                    <a:pt x="10935" y="0"/>
                  </a:cubicBezTo>
                  <a:close/>
                </a:path>
              </a:pathLst>
            </a:custGeom>
            <a:solidFill>
              <a:srgbClr val="5188CC"/>
            </a:solidFill>
          </p:spPr>
        </p:sp>
        <p:sp>
          <p:nvSpPr>
            <p:cNvPr name="TextBox 4" id="4"/>
            <p:cNvSpPr txBox="true"/>
            <p:nvPr/>
          </p:nvSpPr>
          <p:spPr>
            <a:xfrm>
              <a:off x="0" y="-47625"/>
              <a:ext cx="3543001" cy="1493650"/>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403901" y="1028700"/>
            <a:ext cx="3353620" cy="8229600"/>
            <a:chOff x="0" y="0"/>
            <a:chExt cx="883258" cy="2167467"/>
          </a:xfrm>
        </p:grpSpPr>
        <p:sp>
          <p:nvSpPr>
            <p:cNvPr name="Freeform 6" id="6"/>
            <p:cNvSpPr/>
            <p:nvPr/>
          </p:nvSpPr>
          <p:spPr>
            <a:xfrm flipH="false" flipV="false" rot="0">
              <a:off x="0" y="0"/>
              <a:ext cx="883258" cy="2167467"/>
            </a:xfrm>
            <a:custGeom>
              <a:avLst/>
              <a:gdLst/>
              <a:ahLst/>
              <a:cxnLst/>
              <a:rect r="r" b="b" t="t" l="l"/>
              <a:pathLst>
                <a:path h="2167467" w="883258">
                  <a:moveTo>
                    <a:pt x="136203" y="0"/>
                  </a:moveTo>
                  <a:lnTo>
                    <a:pt x="747055" y="0"/>
                  </a:lnTo>
                  <a:cubicBezTo>
                    <a:pt x="822278" y="0"/>
                    <a:pt x="883258" y="60980"/>
                    <a:pt x="883258" y="136203"/>
                  </a:cubicBezTo>
                  <a:lnTo>
                    <a:pt x="883258" y="2031264"/>
                  </a:lnTo>
                  <a:cubicBezTo>
                    <a:pt x="883258" y="2106487"/>
                    <a:pt x="822278" y="2167467"/>
                    <a:pt x="747055" y="2167467"/>
                  </a:cubicBezTo>
                  <a:lnTo>
                    <a:pt x="136203" y="2167467"/>
                  </a:lnTo>
                  <a:cubicBezTo>
                    <a:pt x="100080" y="2167467"/>
                    <a:pt x="65436" y="2153117"/>
                    <a:pt x="39893" y="2127574"/>
                  </a:cubicBezTo>
                  <a:cubicBezTo>
                    <a:pt x="14350" y="2102031"/>
                    <a:pt x="0" y="2067387"/>
                    <a:pt x="0" y="2031264"/>
                  </a:cubicBezTo>
                  <a:lnTo>
                    <a:pt x="0" y="136203"/>
                  </a:lnTo>
                  <a:cubicBezTo>
                    <a:pt x="0" y="100080"/>
                    <a:pt x="14350" y="65436"/>
                    <a:pt x="39893" y="39893"/>
                  </a:cubicBezTo>
                  <a:cubicBezTo>
                    <a:pt x="65436" y="14350"/>
                    <a:pt x="100080" y="0"/>
                    <a:pt x="136203" y="0"/>
                  </a:cubicBezTo>
                  <a:close/>
                </a:path>
              </a:pathLst>
            </a:custGeom>
            <a:solidFill>
              <a:srgbClr val="E1EDFC"/>
            </a:solidFill>
            <a:ln cap="rnd">
              <a:noFill/>
              <a:prstDash val="solid"/>
              <a:round/>
            </a:ln>
          </p:spPr>
        </p:sp>
        <p:sp>
          <p:nvSpPr>
            <p:cNvPr name="TextBox 7" id="7"/>
            <p:cNvSpPr txBox="true"/>
            <p:nvPr/>
          </p:nvSpPr>
          <p:spPr>
            <a:xfrm>
              <a:off x="0" y="-47625"/>
              <a:ext cx="883258" cy="2215092"/>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8" id="8"/>
          <p:cNvGrpSpPr/>
          <p:nvPr/>
        </p:nvGrpSpPr>
        <p:grpSpPr>
          <a:xfrm rot="0">
            <a:off x="2310024" y="1028700"/>
            <a:ext cx="1496945" cy="14969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sp>
        <p:nvSpPr>
          <p:cNvPr name="Freeform 11" id="11"/>
          <p:cNvSpPr/>
          <p:nvPr/>
        </p:nvSpPr>
        <p:spPr>
          <a:xfrm flipH="false" flipV="false" rot="0">
            <a:off x="2646066" y="1358520"/>
            <a:ext cx="824861" cy="837306"/>
          </a:xfrm>
          <a:custGeom>
            <a:avLst/>
            <a:gdLst/>
            <a:ahLst/>
            <a:cxnLst/>
            <a:rect r="r" b="b" t="t" l="l"/>
            <a:pathLst>
              <a:path h="837306" w="824861">
                <a:moveTo>
                  <a:pt x="0" y="0"/>
                </a:moveTo>
                <a:lnTo>
                  <a:pt x="824861" y="0"/>
                </a:lnTo>
                <a:lnTo>
                  <a:pt x="824861" y="837306"/>
                </a:lnTo>
                <a:lnTo>
                  <a:pt x="0" y="837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8226428" y="809625"/>
            <a:ext cx="4613413" cy="1491706"/>
          </a:xfrm>
          <a:prstGeom prst="rect">
            <a:avLst/>
          </a:prstGeom>
        </p:spPr>
        <p:txBody>
          <a:bodyPr anchor="t" rtlCol="false" tIns="0" lIns="0" bIns="0" rIns="0">
            <a:spAutoFit/>
          </a:bodyPr>
          <a:lstStyle/>
          <a:p>
            <a:pPr algn="l" marL="0" indent="0" lvl="0">
              <a:lnSpc>
                <a:spcPts val="10516"/>
              </a:lnSpc>
              <a:spcBef>
                <a:spcPct val="0"/>
              </a:spcBef>
            </a:pPr>
            <a:r>
              <a:rPr lang="en-US" b="true" sz="8280">
                <a:solidFill>
                  <a:srgbClr val="0E2F5F"/>
                </a:solidFill>
                <a:latin typeface="Akzidenz-Grotesk Bold"/>
                <a:ea typeface="Akzidenz-Grotesk Bold"/>
                <a:cs typeface="Akzidenz-Grotesk Bold"/>
                <a:sym typeface="Akzidenz-Grotesk Bold"/>
              </a:rPr>
              <a:t>Kết Quả</a:t>
            </a:r>
          </a:p>
        </p:txBody>
      </p:sp>
      <p:sp>
        <p:nvSpPr>
          <p:cNvPr name="Freeform 13" id="13"/>
          <p:cNvSpPr/>
          <p:nvPr/>
        </p:nvSpPr>
        <p:spPr>
          <a:xfrm flipH="false" flipV="false" rot="0">
            <a:off x="1272909" y="7567140"/>
            <a:ext cx="1230927" cy="1230927"/>
          </a:xfrm>
          <a:custGeom>
            <a:avLst/>
            <a:gdLst/>
            <a:ahLst/>
            <a:cxnLst/>
            <a:rect r="r" b="b" t="t" l="l"/>
            <a:pathLst>
              <a:path h="1230927" w="1230927">
                <a:moveTo>
                  <a:pt x="0" y="0"/>
                </a:moveTo>
                <a:lnTo>
                  <a:pt x="1230927" y="0"/>
                </a:lnTo>
                <a:lnTo>
                  <a:pt x="1230927" y="1230927"/>
                </a:lnTo>
                <a:lnTo>
                  <a:pt x="0" y="12309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4073203" y="3690752"/>
            <a:ext cx="12672624" cy="3800027"/>
          </a:xfrm>
          <a:prstGeom prst="rect">
            <a:avLst/>
          </a:prstGeom>
        </p:spPr>
        <p:txBody>
          <a:bodyPr anchor="t" rtlCol="false" tIns="0" lIns="0" bIns="0" rIns="0">
            <a:spAutoFit/>
          </a:bodyPr>
          <a:lstStyle/>
          <a:p>
            <a:pPr algn="just" marL="585260" indent="-292630" lvl="1">
              <a:lnSpc>
                <a:spcPts val="3795"/>
              </a:lnSpc>
              <a:buAutoNum type="arabicPeriod" startAt="1"/>
            </a:pPr>
            <a:r>
              <a:rPr lang="en-US" b="true" sz="2710">
                <a:solidFill>
                  <a:srgbClr val="000000"/>
                </a:solidFill>
                <a:latin typeface="Aileron Bold"/>
                <a:ea typeface="Aileron Bold"/>
                <a:cs typeface="Aileron Bold"/>
                <a:sym typeface="Aileron Bold"/>
              </a:rPr>
              <a:t>Dự án Logic IQ đã được xây dựng thành công với các chức năng cốt lõi nhằm hỗ trợ người dùng luyện tập tư duy logic một cách trực quan và hiệu quả. Ứng dụng không chỉ phục vụ mục tiêu học tập mà còn là công cụ giải trí bổ ích.</a:t>
            </a:r>
          </a:p>
          <a:p>
            <a:pPr algn="just" marL="585260" indent="-292630" lvl="1">
              <a:lnSpc>
                <a:spcPts val="3795"/>
              </a:lnSpc>
              <a:buAutoNum type="arabicPeriod" startAt="1"/>
            </a:pPr>
            <a:r>
              <a:rPr lang="en-US" b="true" sz="2710">
                <a:solidFill>
                  <a:srgbClr val="000000"/>
                </a:solidFill>
                <a:latin typeface="Aileron Bold"/>
                <a:ea typeface="Aileron Bold"/>
                <a:cs typeface="Aileron Bold"/>
                <a:sym typeface="Aileron Bold"/>
              </a:rPr>
              <a:t>Thông qua việc áp dụng các công nghệ hiện đại như Kotlin, Jetpack Compose, Firebase, nhóm đã học hỏi được nhiều kỹ năng quan trọng trong phát triển ứng dụng Android, đồng thời cải thiện khả năng làm việc nhóm, lập trình bất đồng bộ và xử lý dữ liệu thời gian thực.</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3298" y="6227381"/>
            <a:ext cx="5650143" cy="3676462"/>
            <a:chOff x="0" y="0"/>
            <a:chExt cx="1488104" cy="968286"/>
          </a:xfrm>
        </p:grpSpPr>
        <p:sp>
          <p:nvSpPr>
            <p:cNvPr name="Freeform 3" id="3"/>
            <p:cNvSpPr/>
            <p:nvPr/>
          </p:nvSpPr>
          <p:spPr>
            <a:xfrm flipH="false" flipV="false" rot="0">
              <a:off x="0" y="0"/>
              <a:ext cx="1488104" cy="968286"/>
            </a:xfrm>
            <a:custGeom>
              <a:avLst/>
              <a:gdLst/>
              <a:ahLst/>
              <a:cxnLst/>
              <a:rect r="r" b="b" t="t" l="l"/>
              <a:pathLst>
                <a:path h="968286" w="1488104">
                  <a:moveTo>
                    <a:pt x="0" y="0"/>
                  </a:moveTo>
                  <a:lnTo>
                    <a:pt x="1488104" y="0"/>
                  </a:lnTo>
                  <a:lnTo>
                    <a:pt x="1488104" y="968286"/>
                  </a:lnTo>
                  <a:lnTo>
                    <a:pt x="0" y="968286"/>
                  </a:lnTo>
                  <a:close/>
                </a:path>
              </a:pathLst>
            </a:custGeom>
            <a:solidFill>
              <a:srgbClr val="E1EDFC"/>
            </a:solidFill>
          </p:spPr>
        </p:sp>
        <p:sp>
          <p:nvSpPr>
            <p:cNvPr name="TextBox 4" id="4"/>
            <p:cNvSpPr txBox="true"/>
            <p:nvPr/>
          </p:nvSpPr>
          <p:spPr>
            <a:xfrm>
              <a:off x="0" y="-47625"/>
              <a:ext cx="1488104" cy="1015911"/>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2890993" y="6227381"/>
            <a:ext cx="3676462" cy="367646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46" t="0" r="-37978" b="-8615"/>
              </a:stretch>
            </a:blipFill>
          </p:spPr>
        </p:sp>
      </p:grpSp>
      <p:sp>
        <p:nvSpPr>
          <p:cNvPr name="Freeform 7" id="7"/>
          <p:cNvSpPr/>
          <p:nvPr/>
        </p:nvSpPr>
        <p:spPr>
          <a:xfrm flipH="false" flipV="false" rot="0">
            <a:off x="12367814" y="-1205189"/>
            <a:ext cx="3691868" cy="3691868"/>
          </a:xfrm>
          <a:custGeom>
            <a:avLst/>
            <a:gdLst/>
            <a:ahLst/>
            <a:cxnLst/>
            <a:rect r="r" b="b" t="t" l="l"/>
            <a:pathLst>
              <a:path h="3691868" w="3691868">
                <a:moveTo>
                  <a:pt x="0" y="0"/>
                </a:moveTo>
                <a:lnTo>
                  <a:pt x="3691867" y="0"/>
                </a:lnTo>
                <a:lnTo>
                  <a:pt x="3691867" y="3691868"/>
                </a:lnTo>
                <a:lnTo>
                  <a:pt x="0" y="36918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4384203" y="0"/>
            <a:ext cx="3903797" cy="10287000"/>
            <a:chOff x="0" y="0"/>
            <a:chExt cx="604800" cy="1593725"/>
          </a:xfrm>
        </p:grpSpPr>
        <p:sp>
          <p:nvSpPr>
            <p:cNvPr name="Freeform 9" id="9"/>
            <p:cNvSpPr/>
            <p:nvPr/>
          </p:nvSpPr>
          <p:spPr>
            <a:xfrm flipH="false" flipV="false" rot="0">
              <a:off x="0" y="0"/>
              <a:ext cx="604800" cy="1593725"/>
            </a:xfrm>
            <a:custGeom>
              <a:avLst/>
              <a:gdLst/>
              <a:ahLst/>
              <a:cxnLst/>
              <a:rect r="r" b="b" t="t" l="l"/>
              <a:pathLst>
                <a:path h="1593725" w="604800">
                  <a:moveTo>
                    <a:pt x="0" y="0"/>
                  </a:moveTo>
                  <a:lnTo>
                    <a:pt x="604800" y="0"/>
                  </a:lnTo>
                  <a:lnTo>
                    <a:pt x="604800" y="1593725"/>
                  </a:lnTo>
                  <a:lnTo>
                    <a:pt x="0" y="1593725"/>
                  </a:lnTo>
                  <a:close/>
                </a:path>
              </a:pathLst>
            </a:custGeom>
            <a:blipFill>
              <a:blip r:embed="rId5"/>
              <a:stretch>
                <a:fillRect l="-336648" t="0" r="-58210" b="0"/>
              </a:stretch>
            </a:blipFill>
          </p:spPr>
        </p:sp>
      </p:grpSp>
      <p:sp>
        <p:nvSpPr>
          <p:cNvPr name="TextBox 10" id="10"/>
          <p:cNvSpPr txBox="true"/>
          <p:nvPr/>
        </p:nvSpPr>
        <p:spPr>
          <a:xfrm rot="0">
            <a:off x="1028700" y="876300"/>
            <a:ext cx="9882295" cy="1016127"/>
          </a:xfrm>
          <a:prstGeom prst="rect">
            <a:avLst/>
          </a:prstGeom>
        </p:spPr>
        <p:txBody>
          <a:bodyPr anchor="t" rtlCol="false" tIns="0" lIns="0" bIns="0" rIns="0">
            <a:spAutoFit/>
          </a:bodyPr>
          <a:lstStyle/>
          <a:p>
            <a:pPr algn="l" marL="0" indent="0" lvl="0">
              <a:lnSpc>
                <a:spcPts val="7238"/>
              </a:lnSpc>
              <a:spcBef>
                <a:spcPct val="0"/>
              </a:spcBef>
            </a:pPr>
            <a:r>
              <a:rPr lang="en-US" b="true" sz="5699" strike="noStrike" u="none">
                <a:solidFill>
                  <a:srgbClr val="0E2F5F"/>
                </a:solidFill>
                <a:latin typeface="Akzidenz-Grotesk Heavy"/>
                <a:ea typeface="Akzidenz-Grotesk Heavy"/>
                <a:cs typeface="Akzidenz-Grotesk Heavy"/>
                <a:sym typeface="Akzidenz-Grotesk Heavy"/>
              </a:rPr>
              <a:t> Định Hướng Tương Lai </a:t>
            </a:r>
          </a:p>
        </p:txBody>
      </p:sp>
      <p:sp>
        <p:nvSpPr>
          <p:cNvPr name="TextBox 11" id="11"/>
          <p:cNvSpPr txBox="true"/>
          <p:nvPr/>
        </p:nvSpPr>
        <p:spPr>
          <a:xfrm rot="0">
            <a:off x="692805" y="2327339"/>
            <a:ext cx="12708808" cy="3771989"/>
          </a:xfrm>
          <a:prstGeom prst="rect">
            <a:avLst/>
          </a:prstGeom>
        </p:spPr>
        <p:txBody>
          <a:bodyPr anchor="t" rtlCol="false" tIns="0" lIns="0" bIns="0" rIns="0">
            <a:spAutoFit/>
          </a:bodyPr>
          <a:lstStyle/>
          <a:p>
            <a:pPr algn="just" marL="658950" indent="-329475" lvl="1">
              <a:lnSpc>
                <a:spcPts val="4272"/>
              </a:lnSpc>
              <a:spcBef>
                <a:spcPct val="0"/>
              </a:spcBef>
              <a:buFont typeface="Arial"/>
              <a:buChar char="•"/>
            </a:pPr>
            <a:r>
              <a:rPr lang="en-US" b="true" sz="3052">
                <a:solidFill>
                  <a:srgbClr val="021828"/>
                </a:solidFill>
                <a:latin typeface="Aileron Bold"/>
                <a:ea typeface="Aileron Bold"/>
                <a:cs typeface="Aileron Bold"/>
                <a:sym typeface="Aileron Bold"/>
              </a:rPr>
              <a:t>P</a:t>
            </a:r>
            <a:r>
              <a:rPr lang="en-US" b="true" sz="3052" strike="noStrike" u="none">
                <a:solidFill>
                  <a:srgbClr val="021828"/>
                </a:solidFill>
                <a:latin typeface="Aileron Bold"/>
                <a:ea typeface="Aileron Bold"/>
                <a:cs typeface="Aileron Bold"/>
                <a:sym typeface="Aileron Bold"/>
              </a:rPr>
              <a:t>hát triển hệ thống thử thách mỗi ngày và bảng xếp hạng</a:t>
            </a:r>
          </a:p>
          <a:p>
            <a:pPr algn="just" marL="658950" indent="-329475" lvl="1">
              <a:lnSpc>
                <a:spcPts val="4272"/>
              </a:lnSpc>
              <a:spcBef>
                <a:spcPct val="0"/>
              </a:spcBef>
              <a:buFont typeface="Arial"/>
              <a:buChar char="•"/>
            </a:pPr>
            <a:r>
              <a:rPr lang="en-US" b="true" sz="3052" strike="noStrike" u="none">
                <a:solidFill>
                  <a:srgbClr val="021828"/>
                </a:solidFill>
                <a:latin typeface="Aileron Bold"/>
                <a:ea typeface="Aileron Bold"/>
                <a:cs typeface="Aileron Bold"/>
                <a:sym typeface="Aileron Bold"/>
              </a:rPr>
              <a:t>Cho phép người dùng tự tạo câu hỏi và chia sẻ cho người khác</a:t>
            </a:r>
          </a:p>
          <a:p>
            <a:pPr algn="just" marL="658950" indent="-329475" lvl="1">
              <a:lnSpc>
                <a:spcPts val="4272"/>
              </a:lnSpc>
              <a:spcBef>
                <a:spcPct val="0"/>
              </a:spcBef>
              <a:buFont typeface="Arial"/>
              <a:buChar char="•"/>
            </a:pPr>
            <a:r>
              <a:rPr lang="en-US" b="true" sz="3052" strike="noStrike" u="none">
                <a:solidFill>
                  <a:srgbClr val="021828"/>
                </a:solidFill>
                <a:latin typeface="Aileron Bold"/>
                <a:ea typeface="Aileron Bold"/>
                <a:cs typeface="Aileron Bold"/>
                <a:sym typeface="Aileron Bold"/>
              </a:rPr>
              <a:t>Thêm nhiều chủ đề: toán học, suy luận hình học, ngôn ngữ logic,...</a:t>
            </a:r>
          </a:p>
          <a:p>
            <a:pPr algn="just" marL="658950" indent="-329475" lvl="1">
              <a:lnSpc>
                <a:spcPts val="4272"/>
              </a:lnSpc>
              <a:spcBef>
                <a:spcPct val="0"/>
              </a:spcBef>
              <a:buFont typeface="Arial"/>
              <a:buChar char="•"/>
            </a:pPr>
            <a:r>
              <a:rPr lang="en-US" b="true" sz="3052" strike="noStrike" u="none">
                <a:solidFill>
                  <a:srgbClr val="021828"/>
                </a:solidFill>
                <a:latin typeface="Aileron Bold"/>
                <a:ea typeface="Aileron Bold"/>
                <a:cs typeface="Aileron Bold"/>
                <a:sym typeface="Aileron Bold"/>
              </a:rPr>
              <a:t>Đồng bộ hóa tiến trình học trên nhiều thiết bị</a:t>
            </a:r>
          </a:p>
          <a:p>
            <a:pPr algn="just" marL="658950" indent="-329475" lvl="1">
              <a:lnSpc>
                <a:spcPts val="4272"/>
              </a:lnSpc>
              <a:spcBef>
                <a:spcPct val="0"/>
              </a:spcBef>
              <a:buFont typeface="Arial"/>
              <a:buChar char="•"/>
            </a:pPr>
            <a:r>
              <a:rPr lang="en-US" b="true" sz="3052" strike="noStrike" u="none">
                <a:solidFill>
                  <a:srgbClr val="021828"/>
                </a:solidFill>
                <a:latin typeface="Aileron Bold"/>
                <a:ea typeface="Aileron Bold"/>
                <a:cs typeface="Aileron Bold"/>
                <a:sym typeface="Aileron Bold"/>
              </a:rPr>
              <a:t>Thêm Dark Mode và hỗ trợ nhiều ngôn ngữ (đa ngữ)</a:t>
            </a:r>
          </a:p>
          <a:p>
            <a:pPr algn="just" marL="0" indent="0" lvl="0">
              <a:lnSpc>
                <a:spcPts val="4272"/>
              </a:lnSpc>
              <a:spcBef>
                <a:spcPct val="0"/>
              </a:spcBef>
            </a:pPr>
          </a:p>
        </p:txBody>
      </p:sp>
      <p:sp>
        <p:nvSpPr>
          <p:cNvPr name="Freeform 12" id="12"/>
          <p:cNvSpPr/>
          <p:nvPr/>
        </p:nvSpPr>
        <p:spPr>
          <a:xfrm flipH="false" flipV="false" rot="0">
            <a:off x="1028700" y="8065612"/>
            <a:ext cx="1226460" cy="379088"/>
          </a:xfrm>
          <a:custGeom>
            <a:avLst/>
            <a:gdLst/>
            <a:ahLst/>
            <a:cxnLst/>
            <a:rect r="r" b="b" t="t" l="l"/>
            <a:pathLst>
              <a:path h="379088" w="1226460">
                <a:moveTo>
                  <a:pt x="0" y="0"/>
                </a:moveTo>
                <a:lnTo>
                  <a:pt x="1226460" y="0"/>
                </a:lnTo>
                <a:lnTo>
                  <a:pt x="1226460" y="379088"/>
                </a:lnTo>
                <a:lnTo>
                  <a:pt x="0" y="379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0574039" y="1028700"/>
            <a:ext cx="1226460" cy="379088"/>
          </a:xfrm>
          <a:custGeom>
            <a:avLst/>
            <a:gdLst/>
            <a:ahLst/>
            <a:cxnLst/>
            <a:rect r="r" b="b" t="t" l="l"/>
            <a:pathLst>
              <a:path h="379088" w="1226460">
                <a:moveTo>
                  <a:pt x="0" y="0"/>
                </a:moveTo>
                <a:lnTo>
                  <a:pt x="1226460" y="0"/>
                </a:lnTo>
                <a:lnTo>
                  <a:pt x="1226460" y="379088"/>
                </a:lnTo>
                <a:lnTo>
                  <a:pt x="0" y="379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80466" y="1028700"/>
            <a:ext cx="3076459" cy="3076459"/>
          </a:xfrm>
          <a:custGeom>
            <a:avLst/>
            <a:gdLst/>
            <a:ahLst/>
            <a:cxnLst/>
            <a:rect r="r" b="b" t="t" l="l"/>
            <a:pathLst>
              <a:path h="3076459" w="3076459">
                <a:moveTo>
                  <a:pt x="0" y="0"/>
                </a:moveTo>
                <a:lnTo>
                  <a:pt x="3076459" y="0"/>
                </a:lnTo>
                <a:lnTo>
                  <a:pt x="3076459" y="3076459"/>
                </a:lnTo>
                <a:lnTo>
                  <a:pt x="0" y="30764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123130" y="3861098"/>
            <a:ext cx="5650143" cy="6425902"/>
            <a:chOff x="0" y="0"/>
            <a:chExt cx="1488104" cy="1692419"/>
          </a:xfrm>
        </p:grpSpPr>
        <p:sp>
          <p:nvSpPr>
            <p:cNvPr name="Freeform 4" id="4"/>
            <p:cNvSpPr/>
            <p:nvPr/>
          </p:nvSpPr>
          <p:spPr>
            <a:xfrm flipH="false" flipV="false" rot="0">
              <a:off x="0" y="0"/>
              <a:ext cx="1488104" cy="1692419"/>
            </a:xfrm>
            <a:custGeom>
              <a:avLst/>
              <a:gdLst/>
              <a:ahLst/>
              <a:cxnLst/>
              <a:rect r="r" b="b" t="t" l="l"/>
              <a:pathLst>
                <a:path h="1692419" w="1488104">
                  <a:moveTo>
                    <a:pt x="0" y="0"/>
                  </a:moveTo>
                  <a:lnTo>
                    <a:pt x="1488104" y="0"/>
                  </a:lnTo>
                  <a:lnTo>
                    <a:pt x="1488104" y="1692419"/>
                  </a:lnTo>
                  <a:lnTo>
                    <a:pt x="0" y="1692419"/>
                  </a:lnTo>
                  <a:close/>
                </a:path>
              </a:pathLst>
            </a:custGeom>
            <a:solidFill>
              <a:srgbClr val="E1EDFC"/>
            </a:solidFill>
          </p:spPr>
        </p:sp>
        <p:sp>
          <p:nvSpPr>
            <p:cNvPr name="TextBox 5" id="5"/>
            <p:cNvSpPr txBox="true"/>
            <p:nvPr/>
          </p:nvSpPr>
          <p:spPr>
            <a:xfrm>
              <a:off x="0" y="-47625"/>
              <a:ext cx="1488104" cy="1740044"/>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11108476" y="1028700"/>
            <a:ext cx="5664797" cy="566479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21738" r="0" b="-12041"/>
              </a:stretch>
            </a:blipFill>
          </p:spPr>
        </p:sp>
      </p:grpSp>
      <p:sp>
        <p:nvSpPr>
          <p:cNvPr name="TextBox 8" id="8"/>
          <p:cNvSpPr txBox="true"/>
          <p:nvPr/>
        </p:nvSpPr>
        <p:spPr>
          <a:xfrm rot="0">
            <a:off x="1028700" y="3511121"/>
            <a:ext cx="9795906" cy="3456770"/>
          </a:xfrm>
          <a:prstGeom prst="rect">
            <a:avLst/>
          </a:prstGeom>
        </p:spPr>
        <p:txBody>
          <a:bodyPr anchor="t" rtlCol="false" tIns="0" lIns="0" bIns="0" rIns="0">
            <a:spAutoFit/>
          </a:bodyPr>
          <a:lstStyle/>
          <a:p>
            <a:pPr algn="just" marL="711278" indent="-355639" lvl="1">
              <a:lnSpc>
                <a:spcPts val="4612"/>
              </a:lnSpc>
              <a:buAutoNum type="arabicPeriod" startAt="1"/>
            </a:pPr>
            <a:r>
              <a:rPr lang="en-US" b="true" sz="3294" u="sng">
                <a:solidFill>
                  <a:srgbClr val="021828"/>
                </a:solidFill>
                <a:latin typeface="Aileron Bold"/>
                <a:ea typeface="Aileron Bold"/>
                <a:cs typeface="Aileron Bold"/>
                <a:sym typeface="Aileron Bold"/>
                <a:hlinkClick r:id="rId5" tooltip="https://developer.android.com/jetpack/compose"/>
              </a:rPr>
              <a:t> Android Developers - Jetpack Compose</a:t>
            </a:r>
          </a:p>
          <a:p>
            <a:pPr algn="just" marL="711278" indent="-355639" lvl="1">
              <a:lnSpc>
                <a:spcPts val="4612"/>
              </a:lnSpc>
              <a:buAutoNum type="arabicPeriod" startAt="1"/>
            </a:pPr>
            <a:r>
              <a:rPr lang="en-US" b="true" sz="3294">
                <a:solidFill>
                  <a:srgbClr val="021828"/>
                </a:solidFill>
                <a:latin typeface="Aileron Bold"/>
                <a:ea typeface="Aileron Bold"/>
                <a:cs typeface="Aileron Bold"/>
                <a:sym typeface="Aileron Bold"/>
              </a:rPr>
              <a:t> </a:t>
            </a:r>
            <a:r>
              <a:rPr lang="en-US" b="true" sz="3294">
                <a:solidFill>
                  <a:srgbClr val="021828"/>
                </a:solidFill>
                <a:latin typeface="Aileron Bold"/>
                <a:ea typeface="Aileron Bold"/>
                <a:cs typeface="Aileron Bold"/>
                <a:sym typeface="Aileron Bold"/>
              </a:rPr>
              <a:t>Kotlin Language Documentation</a:t>
            </a:r>
          </a:p>
          <a:p>
            <a:pPr algn="just" marL="711278" indent="-355639" lvl="1">
              <a:lnSpc>
                <a:spcPts val="4612"/>
              </a:lnSpc>
              <a:buAutoNum type="arabicPeriod" startAt="1"/>
            </a:pPr>
            <a:r>
              <a:rPr lang="en-US" b="true" sz="3294">
                <a:solidFill>
                  <a:srgbClr val="021828"/>
                </a:solidFill>
                <a:latin typeface="Aileron Bold"/>
                <a:ea typeface="Aileron Bold"/>
                <a:cs typeface="Aileron Bold"/>
                <a:sym typeface="Aileron Bold"/>
              </a:rPr>
              <a:t> </a:t>
            </a:r>
            <a:r>
              <a:rPr lang="en-US" b="true" sz="3294">
                <a:solidFill>
                  <a:srgbClr val="021828"/>
                </a:solidFill>
                <a:latin typeface="Aileron Bold"/>
                <a:ea typeface="Aileron Bold"/>
                <a:cs typeface="Aileron Bold"/>
                <a:sym typeface="Aileron Bold"/>
              </a:rPr>
              <a:t>Firebase Documentation</a:t>
            </a:r>
          </a:p>
          <a:p>
            <a:pPr algn="just" marL="711278" indent="-355639" lvl="1">
              <a:lnSpc>
                <a:spcPts val="4612"/>
              </a:lnSpc>
              <a:buAutoNum type="arabicPeriod" startAt="1"/>
            </a:pPr>
            <a:r>
              <a:rPr lang="en-US" sz="3294">
                <a:solidFill>
                  <a:srgbClr val="021828"/>
                </a:solidFill>
                <a:latin typeface="Aileron"/>
                <a:ea typeface="Aileron"/>
                <a:cs typeface="Aileron"/>
                <a:sym typeface="Aileron"/>
              </a:rPr>
              <a:t> </a:t>
            </a:r>
            <a:r>
              <a:rPr lang="en-US" b="true" sz="3294" u="sng">
                <a:solidFill>
                  <a:srgbClr val="021828"/>
                </a:solidFill>
                <a:latin typeface="Aileron Bold"/>
                <a:ea typeface="Aileron Bold"/>
                <a:cs typeface="Aileron Bold"/>
                <a:sym typeface="Aileron Bold"/>
                <a:hlinkClick r:id="rId6" tooltip="https://developer.android.com/codelabs/jetpack-compose-basics"/>
              </a:rPr>
              <a:t>Google Codelabs - Android Compose Basics</a:t>
            </a:r>
          </a:p>
          <a:p>
            <a:pPr algn="just">
              <a:lnSpc>
                <a:spcPts val="4612"/>
              </a:lnSpc>
            </a:pPr>
            <a:r>
              <a:rPr lang="en-US" sz="3294">
                <a:solidFill>
                  <a:srgbClr val="021828"/>
                </a:solidFill>
                <a:latin typeface="Aileron"/>
                <a:ea typeface="Aileron"/>
                <a:cs typeface="Aileron"/>
                <a:sym typeface="Aileron"/>
              </a:rPr>
              <a:t>    5. </a:t>
            </a:r>
            <a:r>
              <a:rPr lang="en-US" b="true" sz="3294" u="sng">
                <a:solidFill>
                  <a:srgbClr val="021828"/>
                </a:solidFill>
                <a:latin typeface="Aileron Bold"/>
                <a:ea typeface="Aileron Bold"/>
                <a:cs typeface="Aileron Bold"/>
                <a:sym typeface="Aileron Bold"/>
                <a:hlinkClick r:id="rId7" tooltip="https://developer.android.com/training/dependency-injection/hilt-android"/>
              </a:rPr>
              <a:t>Hilt for Dependency Injection</a:t>
            </a:r>
          </a:p>
          <a:p>
            <a:pPr algn="just">
              <a:lnSpc>
                <a:spcPts val="4612"/>
              </a:lnSpc>
            </a:pPr>
          </a:p>
        </p:txBody>
      </p:sp>
      <p:sp>
        <p:nvSpPr>
          <p:cNvPr name="TextBox 9" id="9"/>
          <p:cNvSpPr txBox="true"/>
          <p:nvPr/>
        </p:nvSpPr>
        <p:spPr>
          <a:xfrm rot="0">
            <a:off x="618831" y="1216050"/>
            <a:ext cx="8941443" cy="1161415"/>
          </a:xfrm>
          <a:prstGeom prst="rect">
            <a:avLst/>
          </a:prstGeom>
        </p:spPr>
        <p:txBody>
          <a:bodyPr anchor="t" rtlCol="false" tIns="0" lIns="0" bIns="0" rIns="0">
            <a:spAutoFit/>
          </a:bodyPr>
          <a:lstStyle/>
          <a:p>
            <a:pPr algn="l" marL="0" indent="0" lvl="0">
              <a:lnSpc>
                <a:spcPts val="8254"/>
              </a:lnSpc>
              <a:spcBef>
                <a:spcPct val="0"/>
              </a:spcBef>
            </a:pPr>
            <a:r>
              <a:rPr lang="en-US" b="true" sz="6499">
                <a:solidFill>
                  <a:srgbClr val="0E2F5F"/>
                </a:solidFill>
                <a:latin typeface="Akzidenz-Grotesk Heavy"/>
                <a:ea typeface="Akzidenz-Grotesk Heavy"/>
                <a:cs typeface="Akzidenz-Grotesk Heavy"/>
                <a:sym typeface="Akzidenz-Grotesk Heavy"/>
              </a:rPr>
              <a:t>Tài liệu tham khảo</a:t>
            </a:r>
          </a:p>
        </p:txBody>
      </p:sp>
      <p:sp>
        <p:nvSpPr>
          <p:cNvPr name="Freeform 10" id="10"/>
          <p:cNvSpPr/>
          <p:nvPr/>
        </p:nvSpPr>
        <p:spPr>
          <a:xfrm flipH="false" flipV="false" rot="0">
            <a:off x="13181211" y="8788690"/>
            <a:ext cx="1519327" cy="469610"/>
          </a:xfrm>
          <a:custGeom>
            <a:avLst/>
            <a:gdLst/>
            <a:ahLst/>
            <a:cxnLst/>
            <a:rect r="r" b="b" t="t" l="l"/>
            <a:pathLst>
              <a:path h="469610" w="1519327">
                <a:moveTo>
                  <a:pt x="0" y="0"/>
                </a:moveTo>
                <a:lnTo>
                  <a:pt x="1519327" y="0"/>
                </a:lnTo>
                <a:lnTo>
                  <a:pt x="1519327" y="469610"/>
                </a:lnTo>
                <a:lnTo>
                  <a:pt x="0" y="46961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470689" y="3176727"/>
            <a:ext cx="9346622" cy="3896988"/>
          </a:xfrm>
          <a:prstGeom prst="rect">
            <a:avLst/>
          </a:prstGeom>
        </p:spPr>
        <p:txBody>
          <a:bodyPr anchor="t" rtlCol="false" tIns="0" lIns="0" bIns="0" rIns="0">
            <a:spAutoFit/>
          </a:bodyPr>
          <a:lstStyle/>
          <a:p>
            <a:pPr algn="ctr">
              <a:lnSpc>
                <a:spcPts val="14658"/>
              </a:lnSpc>
            </a:pPr>
            <a:r>
              <a:rPr lang="en-US" b="true" sz="16848">
                <a:solidFill>
                  <a:srgbClr val="0E2F5F"/>
                </a:solidFill>
                <a:latin typeface="Barlow Condensed Heavy"/>
                <a:ea typeface="Barlow Condensed Heavy"/>
                <a:cs typeface="Barlow Condensed Heavy"/>
                <a:sym typeface="Barlow Condensed Heavy"/>
              </a:rPr>
              <a:t>THANK YOU!</a:t>
            </a:r>
          </a:p>
        </p:txBody>
      </p:sp>
      <p:grpSp>
        <p:nvGrpSpPr>
          <p:cNvPr name="Group 3" id="3"/>
          <p:cNvGrpSpPr/>
          <p:nvPr/>
        </p:nvGrpSpPr>
        <p:grpSpPr>
          <a:xfrm rot="0">
            <a:off x="7249048" y="7616640"/>
            <a:ext cx="3789904" cy="665701"/>
            <a:chOff x="0" y="0"/>
            <a:chExt cx="998164" cy="175329"/>
          </a:xfrm>
        </p:grpSpPr>
        <p:sp>
          <p:nvSpPr>
            <p:cNvPr name="Freeform 4" id="4"/>
            <p:cNvSpPr/>
            <p:nvPr/>
          </p:nvSpPr>
          <p:spPr>
            <a:xfrm flipH="false" flipV="false" rot="0">
              <a:off x="0" y="0"/>
              <a:ext cx="998164" cy="175329"/>
            </a:xfrm>
            <a:custGeom>
              <a:avLst/>
              <a:gdLst/>
              <a:ahLst/>
              <a:cxnLst/>
              <a:rect r="r" b="b" t="t" l="l"/>
              <a:pathLst>
                <a:path h="175329" w="998164">
                  <a:moveTo>
                    <a:pt x="87664" y="0"/>
                  </a:moveTo>
                  <a:lnTo>
                    <a:pt x="910500" y="0"/>
                  </a:lnTo>
                  <a:cubicBezTo>
                    <a:pt x="958915" y="0"/>
                    <a:pt x="998164" y="39249"/>
                    <a:pt x="998164" y="87664"/>
                  </a:cubicBezTo>
                  <a:lnTo>
                    <a:pt x="998164" y="87664"/>
                  </a:lnTo>
                  <a:cubicBezTo>
                    <a:pt x="998164" y="110914"/>
                    <a:pt x="988928" y="133212"/>
                    <a:pt x="972488" y="149652"/>
                  </a:cubicBezTo>
                  <a:cubicBezTo>
                    <a:pt x="956048" y="166093"/>
                    <a:pt x="933750" y="175329"/>
                    <a:pt x="910500"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5188CC"/>
            </a:solidFill>
          </p:spPr>
        </p:sp>
        <p:sp>
          <p:nvSpPr>
            <p:cNvPr name="TextBox 5" id="5"/>
            <p:cNvSpPr txBox="true"/>
            <p:nvPr/>
          </p:nvSpPr>
          <p:spPr>
            <a:xfrm>
              <a:off x="0" y="-47625"/>
              <a:ext cx="998164" cy="222954"/>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7511163" y="7791225"/>
            <a:ext cx="305535" cy="302202"/>
          </a:xfrm>
          <a:custGeom>
            <a:avLst/>
            <a:gdLst/>
            <a:ahLst/>
            <a:cxnLst/>
            <a:rect r="r" b="b" t="t" l="l"/>
            <a:pathLst>
              <a:path h="302202" w="305535">
                <a:moveTo>
                  <a:pt x="0" y="0"/>
                </a:moveTo>
                <a:lnTo>
                  <a:pt x="305535" y="0"/>
                </a:lnTo>
                <a:lnTo>
                  <a:pt x="305535" y="302203"/>
                </a:lnTo>
                <a:lnTo>
                  <a:pt x="0" y="3022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991226" y="7772175"/>
            <a:ext cx="3009626" cy="306925"/>
          </a:xfrm>
          <a:prstGeom prst="rect">
            <a:avLst/>
          </a:prstGeom>
        </p:spPr>
        <p:txBody>
          <a:bodyPr anchor="t" rtlCol="false" tIns="0" lIns="0" bIns="0" rIns="0">
            <a:spAutoFit/>
          </a:bodyPr>
          <a:lstStyle/>
          <a:p>
            <a:pPr algn="l">
              <a:lnSpc>
                <a:spcPts val="2413"/>
              </a:lnSpc>
            </a:pPr>
            <a:r>
              <a:rPr lang="en-US" sz="1900">
                <a:solidFill>
                  <a:srgbClr val="FFFFFF"/>
                </a:solidFill>
                <a:latin typeface="Aileron"/>
                <a:ea typeface="Aileron"/>
                <a:cs typeface="Aileron"/>
                <a:sym typeface="Aileron"/>
              </a:rPr>
              <a:t>www.reallygreatsite.com</a:t>
            </a:r>
          </a:p>
        </p:txBody>
      </p:sp>
      <p:grpSp>
        <p:nvGrpSpPr>
          <p:cNvPr name="Group 8" id="8"/>
          <p:cNvGrpSpPr/>
          <p:nvPr/>
        </p:nvGrpSpPr>
        <p:grpSpPr>
          <a:xfrm rot="0">
            <a:off x="3424608" y="-1072654"/>
            <a:ext cx="11438784" cy="2839490"/>
            <a:chOff x="0" y="0"/>
            <a:chExt cx="3012684" cy="747849"/>
          </a:xfrm>
        </p:grpSpPr>
        <p:sp>
          <p:nvSpPr>
            <p:cNvPr name="Freeform 9" id="9"/>
            <p:cNvSpPr/>
            <p:nvPr/>
          </p:nvSpPr>
          <p:spPr>
            <a:xfrm flipH="false" flipV="false" rot="0">
              <a:off x="0" y="0"/>
              <a:ext cx="3012684" cy="747849"/>
            </a:xfrm>
            <a:custGeom>
              <a:avLst/>
              <a:gdLst/>
              <a:ahLst/>
              <a:cxnLst/>
              <a:rect r="r" b="b" t="t" l="l"/>
              <a:pathLst>
                <a:path h="747849" w="3012684">
                  <a:moveTo>
                    <a:pt x="39932" y="0"/>
                  </a:moveTo>
                  <a:lnTo>
                    <a:pt x="2972752" y="0"/>
                  </a:lnTo>
                  <a:cubicBezTo>
                    <a:pt x="2994806" y="0"/>
                    <a:pt x="3012684" y="17878"/>
                    <a:pt x="3012684" y="39932"/>
                  </a:cubicBezTo>
                  <a:lnTo>
                    <a:pt x="3012684" y="707917"/>
                  </a:lnTo>
                  <a:cubicBezTo>
                    <a:pt x="3012684" y="729971"/>
                    <a:pt x="2994806" y="747849"/>
                    <a:pt x="2972752" y="747849"/>
                  </a:cubicBezTo>
                  <a:lnTo>
                    <a:pt x="39932" y="747849"/>
                  </a:lnTo>
                  <a:cubicBezTo>
                    <a:pt x="17878" y="747849"/>
                    <a:pt x="0" y="729971"/>
                    <a:pt x="0" y="707917"/>
                  </a:cubicBezTo>
                  <a:lnTo>
                    <a:pt x="0" y="39932"/>
                  </a:lnTo>
                  <a:cubicBezTo>
                    <a:pt x="0" y="17878"/>
                    <a:pt x="17878" y="0"/>
                    <a:pt x="39932" y="0"/>
                  </a:cubicBezTo>
                  <a:close/>
                </a:path>
              </a:pathLst>
            </a:custGeom>
            <a:solidFill>
              <a:srgbClr val="E1EDFC"/>
            </a:solidFill>
            <a:ln cap="rnd">
              <a:noFill/>
              <a:prstDash val="solid"/>
              <a:round/>
            </a:ln>
          </p:spPr>
        </p:sp>
        <p:sp>
          <p:nvSpPr>
            <p:cNvPr name="TextBox 10" id="10"/>
            <p:cNvSpPr txBox="true"/>
            <p:nvPr/>
          </p:nvSpPr>
          <p:spPr>
            <a:xfrm>
              <a:off x="0" y="-47625"/>
              <a:ext cx="3012684" cy="795474"/>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1" id="11"/>
          <p:cNvGrpSpPr/>
          <p:nvPr/>
        </p:nvGrpSpPr>
        <p:grpSpPr>
          <a:xfrm rot="0">
            <a:off x="8395527" y="1028700"/>
            <a:ext cx="1496945" cy="149694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8673581" y="1447879"/>
            <a:ext cx="940838" cy="658587"/>
          </a:xfrm>
          <a:custGeom>
            <a:avLst/>
            <a:gdLst/>
            <a:ahLst/>
            <a:cxnLst/>
            <a:rect r="r" b="b" t="t" l="l"/>
            <a:pathLst>
              <a:path h="658587" w="940838">
                <a:moveTo>
                  <a:pt x="0" y="0"/>
                </a:moveTo>
                <a:lnTo>
                  <a:pt x="940838" y="0"/>
                </a:lnTo>
                <a:lnTo>
                  <a:pt x="940838" y="658587"/>
                </a:lnTo>
                <a:lnTo>
                  <a:pt x="0" y="6585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3424608" y="4750679"/>
            <a:ext cx="1519327" cy="469610"/>
          </a:xfrm>
          <a:custGeom>
            <a:avLst/>
            <a:gdLst/>
            <a:ahLst/>
            <a:cxnLst/>
            <a:rect r="r" b="b" t="t" l="l"/>
            <a:pathLst>
              <a:path h="469610" w="1519327">
                <a:moveTo>
                  <a:pt x="0" y="0"/>
                </a:moveTo>
                <a:lnTo>
                  <a:pt x="1519327" y="0"/>
                </a:lnTo>
                <a:lnTo>
                  <a:pt x="1519327" y="469610"/>
                </a:lnTo>
                <a:lnTo>
                  <a:pt x="0" y="469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true" flipV="false" rot="0">
            <a:off x="13344065" y="4750679"/>
            <a:ext cx="1519327" cy="469610"/>
          </a:xfrm>
          <a:custGeom>
            <a:avLst/>
            <a:gdLst/>
            <a:ahLst/>
            <a:cxnLst/>
            <a:rect r="r" b="b" t="t" l="l"/>
            <a:pathLst>
              <a:path h="469610" w="1519327">
                <a:moveTo>
                  <a:pt x="1519327" y="0"/>
                </a:moveTo>
                <a:lnTo>
                  <a:pt x="0" y="0"/>
                </a:lnTo>
                <a:lnTo>
                  <a:pt x="0" y="469610"/>
                </a:lnTo>
                <a:lnTo>
                  <a:pt x="1519327" y="469610"/>
                </a:lnTo>
                <a:lnTo>
                  <a:pt x="1519327"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0" y="8996715"/>
            <a:ext cx="18288000" cy="1290285"/>
            <a:chOff x="0" y="0"/>
            <a:chExt cx="4816593" cy="339828"/>
          </a:xfrm>
        </p:grpSpPr>
        <p:sp>
          <p:nvSpPr>
            <p:cNvPr name="Freeform 18" id="18"/>
            <p:cNvSpPr/>
            <p:nvPr/>
          </p:nvSpPr>
          <p:spPr>
            <a:xfrm flipH="false" flipV="false" rot="0">
              <a:off x="0" y="0"/>
              <a:ext cx="4816592" cy="339828"/>
            </a:xfrm>
            <a:custGeom>
              <a:avLst/>
              <a:gdLst/>
              <a:ahLst/>
              <a:cxnLst/>
              <a:rect r="r" b="b" t="t" l="l"/>
              <a:pathLst>
                <a:path h="339828" w="4816592">
                  <a:moveTo>
                    <a:pt x="0" y="0"/>
                  </a:moveTo>
                  <a:lnTo>
                    <a:pt x="4816592" y="0"/>
                  </a:lnTo>
                  <a:lnTo>
                    <a:pt x="4816592" y="339828"/>
                  </a:lnTo>
                  <a:lnTo>
                    <a:pt x="0" y="339828"/>
                  </a:lnTo>
                  <a:close/>
                </a:path>
              </a:pathLst>
            </a:custGeom>
            <a:solidFill>
              <a:srgbClr val="0E2F5F"/>
            </a:solidFill>
            <a:ln cap="sq">
              <a:noFill/>
              <a:prstDash val="solid"/>
              <a:miter/>
            </a:ln>
          </p:spPr>
        </p:sp>
        <p:sp>
          <p:nvSpPr>
            <p:cNvPr name="TextBox 19" id="19"/>
            <p:cNvSpPr txBox="true"/>
            <p:nvPr/>
          </p:nvSpPr>
          <p:spPr>
            <a:xfrm>
              <a:off x="0" y="-47625"/>
              <a:ext cx="4816593" cy="387453"/>
            </a:xfrm>
            <a:prstGeom prst="rect">
              <a:avLst/>
            </a:prstGeom>
          </p:spPr>
          <p:txBody>
            <a:bodyPr anchor="ctr" rtlCol="false" tIns="50800" lIns="50800" bIns="50800" rIns="50800"/>
            <a:lstStyle/>
            <a:p>
              <a:pPr algn="ctr" marL="0" indent="0" lvl="0">
                <a:lnSpc>
                  <a:spcPts val="2800"/>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DAGsyHUMc0E</dc:identifier>
  <dcterms:modified xsi:type="dcterms:W3CDTF">2011-08-01T06:04:30Z</dcterms:modified>
  <cp:revision>1</cp:revision>
  <dc:title>ĐỒ ÁN QUIZ LOGIC Nhóm K</dc:title>
</cp:coreProperties>
</file>